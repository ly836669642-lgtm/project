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This is our autonomous driving project for the Introduction to ROS course. I will walk through our system architecture, then perception, planning, and control, and finish with our test results.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car drives a fixed, roughly 785-meter urban loop, using waypoints published once at startup. We wrote five ROS 2 packages -- interfaces, perception, planning, control, and bringup -- on top of two packages provided by the course. As Figure 1 shows, perception and planning run independently and in parallel, each consuming the simulator's sensor and pose streams. Control is the only node that combines their outputs, and it's the sole path to the car's command topic -- no other node talks to the simulator directly. On the results side, a full benchmark run completed in 272 seconds with zero collisions, zero stalls, one obstacle detour, and two red-light stops handled correctly. Average speed was 2.7 meters per second, peaking at 7.5 on the two longest straights. Figure 5 shows the planned route on the course map, along with the ten predefined goal poses our planner selects between.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Perception has two nodes. obstacle_guard_node takes the depth camera's point cloud, transforms it into the world frame, and measures distance to obstacles along four corridors: main, tight, and two overtake corridors. It keeps points between 0.35 and 3 meters high, filtering out road-surface noise. It's cross-checked against an OctoMap occupancy layer covering the 8-to-35-centimeter band, which catches low, curb-height obstacles the live scan structurally can't see. traffic_light_node uses HSV color-blob detection on the facing signal, filtered by shape to reject false positives like red signage. It only detects red and green -- amber can't be reliably separated from the amber-painted signal casing -- so the controller simply treats 'no fresh green yet' as 'keep waiting.' Importantly, no node in our pipeline ever uses the semantic camera, which claims the assignment's full bonus. One limitation: point-cloud updates run at only about 0.7 hertz, bounded by the simulator's single-core render loop, which caps how fast we can safely cruise.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Planning is a single node, route_planner_node, with two jobs. First, once at startup, it builds a base path: a right-hand lane offset so the car keeps to its own side of the road, iterative smoothing, and a curvature- and acceleration-limited speed profile -- slower through tight turns, respecting braking and acceleration limits between points. This covers both the geometric path-planning role and the kinematic trajectory-planning role. Second, online, it handles two things. When control confirms a static obstacle, the planner shifts a short stretch of the path sideways, blends smoothly back in, and reverts once clear -- locating that stretch with a binary search over arc length rather than rescanning the whole route. It also continuously selects the nearest still-ahead goal from the task's ten predefined poses, using a heading-locked search to handle the fact that our loop crosses near itself.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Control lives in pure_pursuit_node. Steering uses a standard pure-pursuit law with a speed-dependent look-ahead distance; throttle combines proportional correction with a feed-forward table, since proportional control alone settles well below the commanded speed. The node exposes the required control-enable service, and it's enabled by default at launch. For safety, an ACC-style gap controller enforces a comfort-stop curve with a 13-meter standoff in the tight corridor, plus a wide-corridor speed ramp between 14 and 38 meters -- this same following logic absorbs the assignment's Event I, a vehicle merging in ahead. A traffic-light state machine stops and releases correctly at each signal. A detour state machine verifies a path is actually clear before committing to it. And independent of all that, every control tick checks whether emergency braking is needed -- decelerating at over 4 meters per second squared -- which is what handles Event II, a vehicle that crosses and brakes hard ahead of us.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3 shows our driven path colored by speed, and Figure 4 shows that same speed against distance travelled. The fastest segments are the two longest clear straights, where we peak at 7.5 meters per second. The near-zero dips mark where we're slower: the detour location, the two traffic lights that were red on this run, and two ACC-managed slowdowns for the assignment's Event one and Event two encounters. One design choice mattered a lot here: we originally capped wide-corridor speed at a flat 2.5 meters per second, but roadside furniture sits in that corridor sixty to ninety percent of route time, so it was starving the whole run. Ramping that cap up to 6.5 meters per second fixed it route-wide, not just locally. The other limiter is perception's update rate -- capped around 0.7 hertz by the simulator's single-core loop -- which is what ultimately bounds how much faster we could safely go.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360152" cy="1188720"/>
          </a:xfrm>
          <a:prstGeom prst="rect">
            <a:avLst/>
          </a:prstGeom>
          <a:noFill/>
        </p:spPr>
        <p:txBody>
          <a:bodyPr wrap="square">
            <a:spAutoFit/>
          </a:bodyPr>
          <a:lstStyle/>
          <a:p>
            <a:pPr algn="ctr">
              <a:defRPr sz="4400" b="1">
                <a:solidFill>
                  <a:srgbClr val="FFFFFF"/>
                </a:solidFill>
              </a:defRPr>
            </a:pPr>
            <a:r>
              <a:t>Autonomous Driving Project</a:t>
            </a:r>
          </a:p>
        </p:txBody>
      </p:sp>
      <p:sp>
        <p:nvSpPr>
          <p:cNvPr id="4" name="TextBox 3"/>
          <p:cNvSpPr txBox="1"/>
          <p:nvPr/>
        </p:nvSpPr>
        <p:spPr>
          <a:xfrm>
            <a:off x="914400" y="3383280"/>
            <a:ext cx="10360152" cy="548640"/>
          </a:xfrm>
          <a:prstGeom prst="rect">
            <a:avLst/>
          </a:prstGeom>
          <a:noFill/>
        </p:spPr>
        <p:txBody>
          <a:bodyPr wrap="square">
            <a:spAutoFit/>
          </a:bodyPr>
          <a:lstStyle/>
          <a:p>
            <a:pPr algn="ctr">
              <a:defRPr sz="2000">
                <a:solidFill>
                  <a:srgbClr val="C9D6E8"/>
                </a:solidFill>
              </a:defRPr>
            </a:pPr>
            <a:r>
              <a:t>TUM "Introduction to ROS" 2026 — Autonomous Driving Group Project</a:t>
            </a:r>
          </a:p>
        </p:txBody>
      </p:sp>
      <p:sp>
        <p:nvSpPr>
          <p:cNvPr id="5" name="TextBox 4"/>
          <p:cNvSpPr txBox="1"/>
          <p:nvPr/>
        </p:nvSpPr>
        <p:spPr>
          <a:xfrm>
            <a:off x="914400" y="4480560"/>
            <a:ext cx="10360152" cy="457200"/>
          </a:xfrm>
          <a:prstGeom prst="rect">
            <a:avLst/>
          </a:prstGeom>
          <a:noFill/>
        </p:spPr>
        <p:txBody>
          <a:bodyPr wrap="square">
            <a:spAutoFit/>
          </a:bodyPr>
          <a:lstStyle/>
          <a:p>
            <a:pPr algn="ctr">
              <a:defRPr sz="1600">
                <a:solidFill>
                  <a:srgbClr val="9BB0CC"/>
                </a:solidFill>
              </a:defRPr>
            </a:pPr>
            <a:r>
              <a:t>Author 1  ·  Author 2  ·  Author 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77240"/>
          </a:xfrm>
          <a:prstGeom prst="rect">
            <a:avLst/>
          </a:prstGeom>
          <a:noFill/>
        </p:spPr>
        <p:txBody>
          <a:bodyPr wrap="square">
            <a:spAutoFit/>
          </a:bodyPr>
          <a:lstStyle/>
          <a:p>
            <a:pPr>
              <a:defRPr sz="3200" b="1">
                <a:solidFill>
                  <a:srgbClr val="1B2A4A"/>
                </a:solidFill>
              </a:defRPr>
            </a:pPr>
            <a:r>
              <a:t>System Overview</a:t>
            </a:r>
          </a:p>
        </p:txBody>
      </p:sp>
      <p:sp>
        <p:nvSpPr>
          <p:cNvPr id="3" name="Rectangle 2"/>
          <p:cNvSpPr/>
          <p:nvPr/>
        </p:nvSpPr>
        <p:spPr>
          <a:xfrm>
            <a:off x="457200" y="1005840"/>
            <a:ext cx="11277295" cy="31750"/>
          </a:xfrm>
          <a:prstGeom prst="rect">
            <a:avLst/>
          </a:prstGeom>
          <a:solidFill>
            <a:srgbClr val="2E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43000"/>
            <a:ext cx="6035040" cy="5212080"/>
          </a:xfrm>
          <a:prstGeom prst="rect">
            <a:avLst/>
          </a:prstGeom>
          <a:noFill/>
        </p:spPr>
        <p:txBody>
          <a:bodyPr wrap="square">
            <a:spAutoFit/>
          </a:bodyPr>
          <a:lstStyle/>
          <a:p>
            <a:pPr>
              <a:spcAft>
                <a:spcPts val="800"/>
              </a:spcAft>
              <a:defRPr sz="1600">
                <a:solidFill>
                  <a:srgbClr val="222222"/>
                </a:solidFill>
              </a:defRPr>
            </a:pPr>
            <a:r>
              <a:t>•  Fixed ~785 m urban loop; waypoints published once at startup</a:t>
            </a:r>
          </a:p>
          <a:p>
            <a:pPr>
              <a:spcAft>
                <a:spcPts val="800"/>
              </a:spcAft>
              <a:defRPr sz="1600">
                <a:solidFill>
                  <a:srgbClr val="222222"/>
                </a:solidFill>
              </a:defRPr>
            </a:pPr>
            <a:r>
              <a:t>•  5 custom ROS 2 packages (interfaces, perception, planning, control, bringup)</a:t>
            </a:r>
          </a:p>
          <a:p>
            <a:pPr>
              <a:spcAft>
                <a:spcPts val="400"/>
              </a:spcAft>
              <a:defRPr sz="1400">
                <a:solidFill>
                  <a:srgbClr val="555555"/>
                </a:solidFill>
              </a:defRPr>
            </a:pPr>
            <a:r>
              <a:t>‒  plus 2 course-provided packages (simulation bridge, reference controller)</a:t>
            </a:r>
          </a:p>
          <a:p>
            <a:pPr>
              <a:spcAft>
                <a:spcPts val="800"/>
              </a:spcAft>
              <a:defRPr sz="1600">
                <a:solidFill>
                  <a:srgbClr val="222222"/>
                </a:solidFill>
              </a:defRPr>
            </a:pPr>
            <a:r>
              <a:t>•  Perception &amp; planning run independently, in parallel</a:t>
            </a:r>
          </a:p>
          <a:p>
            <a:pPr>
              <a:spcAft>
                <a:spcPts val="800"/>
              </a:spcAft>
              <a:defRPr sz="1600">
                <a:solidFill>
                  <a:srgbClr val="222222"/>
                </a:solidFill>
              </a:defRPr>
            </a:pPr>
            <a:r>
              <a:t>•  Control is the only node combining their outputs — sole path to /car_command</a:t>
            </a:r>
          </a:p>
          <a:p>
            <a:pPr>
              <a:spcAft>
                <a:spcPts val="800"/>
              </a:spcAft>
              <a:defRPr sz="1600">
                <a:solidFill>
                  <a:srgbClr val="222222"/>
                </a:solidFill>
              </a:defRPr>
            </a:pPr>
            <a:r>
              <a:t>•  Benchmark run: 272 s, zero collisions, zero stalls, 1 detour, 2 correct light stops</a:t>
            </a:r>
          </a:p>
          <a:p>
            <a:pPr>
              <a:spcAft>
                <a:spcPts val="400"/>
              </a:spcAft>
              <a:defRPr sz="1400">
                <a:solidFill>
                  <a:srgbClr val="555555"/>
                </a:solidFill>
              </a:defRPr>
            </a:pPr>
            <a:r>
              <a:t>‒  Average speed 2.7 m/s, peak 7.5 m/s on the longest straights</a:t>
            </a:r>
          </a:p>
        </p:txBody>
      </p:sp>
      <p:pic>
        <p:nvPicPr>
          <p:cNvPr id="5" name="Picture 4" descr="architecture_illustrated.png"/>
          <p:cNvPicPr>
            <a:picLocks noChangeAspect="1"/>
          </p:cNvPicPr>
          <p:nvPr/>
        </p:nvPicPr>
        <p:blipFill>
          <a:blip r:embed="rId2"/>
          <a:stretch>
            <a:fillRect/>
          </a:stretch>
        </p:blipFill>
        <p:spPr>
          <a:xfrm>
            <a:off x="8009707" y="1143000"/>
            <a:ext cx="2451465" cy="3063240"/>
          </a:xfrm>
          <a:prstGeom prst="rect">
            <a:avLst/>
          </a:prstGeom>
        </p:spPr>
      </p:pic>
      <p:sp>
        <p:nvSpPr>
          <p:cNvPr id="6" name="TextBox 5"/>
          <p:cNvSpPr txBox="1"/>
          <p:nvPr/>
        </p:nvSpPr>
        <p:spPr>
          <a:xfrm>
            <a:off x="6720840" y="4251960"/>
            <a:ext cx="5029200" cy="274320"/>
          </a:xfrm>
          <a:prstGeom prst="rect">
            <a:avLst/>
          </a:prstGeom>
          <a:noFill/>
        </p:spPr>
        <p:txBody>
          <a:bodyPr wrap="square">
            <a:spAutoFit/>
          </a:bodyPr>
          <a:lstStyle/>
          <a:p>
            <a:pPr algn="ctr">
              <a:defRPr sz="1200" i="1">
                <a:solidFill>
                  <a:srgbClr val="555555"/>
                </a:solidFill>
              </a:defRPr>
            </a:pPr>
            <a:r>
              <a:t>Fig. 1 — Node/data-flow architecture</a:t>
            </a:r>
          </a:p>
        </p:txBody>
      </p:sp>
      <p:pic>
        <p:nvPicPr>
          <p:cNvPr id="7" name="Picture 6" descr="route_on_map.png"/>
          <p:cNvPicPr>
            <a:picLocks noChangeAspect="1"/>
          </p:cNvPicPr>
          <p:nvPr/>
        </p:nvPicPr>
        <p:blipFill>
          <a:blip r:embed="rId3"/>
          <a:stretch>
            <a:fillRect/>
          </a:stretch>
        </p:blipFill>
        <p:spPr>
          <a:xfrm>
            <a:off x="7620487" y="4434840"/>
            <a:ext cx="3229905" cy="1920240"/>
          </a:xfrm>
          <a:prstGeom prst="rect">
            <a:avLst/>
          </a:prstGeom>
        </p:spPr>
      </p:pic>
      <p:sp>
        <p:nvSpPr>
          <p:cNvPr id="8" name="TextBox 7"/>
          <p:cNvSpPr txBox="1"/>
          <p:nvPr/>
        </p:nvSpPr>
        <p:spPr>
          <a:xfrm>
            <a:off x="6720840" y="6400800"/>
            <a:ext cx="5029200" cy="274320"/>
          </a:xfrm>
          <a:prstGeom prst="rect">
            <a:avLst/>
          </a:prstGeom>
          <a:noFill/>
        </p:spPr>
        <p:txBody>
          <a:bodyPr wrap="square">
            <a:spAutoFit/>
          </a:bodyPr>
          <a:lstStyle/>
          <a:p>
            <a:pPr algn="ctr">
              <a:defRPr sz="1200" i="1">
                <a:solidFill>
                  <a:srgbClr val="555555"/>
                </a:solidFill>
              </a:defRPr>
            </a:pPr>
            <a:r>
              <a:t>Fig. 5 — Route with 10 predefined goal poses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77240"/>
          </a:xfrm>
          <a:prstGeom prst="rect">
            <a:avLst/>
          </a:prstGeom>
          <a:noFill/>
        </p:spPr>
        <p:txBody>
          <a:bodyPr wrap="square">
            <a:spAutoFit/>
          </a:bodyPr>
          <a:lstStyle/>
          <a:p>
            <a:pPr>
              <a:defRPr sz="3200" b="1">
                <a:solidFill>
                  <a:srgbClr val="1B2A4A"/>
                </a:solidFill>
              </a:defRPr>
            </a:pPr>
            <a:r>
              <a:t>Perception</a:t>
            </a:r>
          </a:p>
        </p:txBody>
      </p:sp>
      <p:sp>
        <p:nvSpPr>
          <p:cNvPr id="3" name="Rectangle 2"/>
          <p:cNvSpPr/>
          <p:nvPr/>
        </p:nvSpPr>
        <p:spPr>
          <a:xfrm>
            <a:off x="457200" y="1005840"/>
            <a:ext cx="11277295" cy="31750"/>
          </a:xfrm>
          <a:prstGeom prst="rect">
            <a:avLst/>
          </a:prstGeom>
          <a:solidFill>
            <a:srgbClr val="2E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43000"/>
            <a:ext cx="11277295" cy="5394960"/>
          </a:xfrm>
          <a:prstGeom prst="rect">
            <a:avLst/>
          </a:prstGeom>
          <a:noFill/>
        </p:spPr>
        <p:txBody>
          <a:bodyPr wrap="square">
            <a:spAutoFit/>
          </a:bodyPr>
          <a:lstStyle/>
          <a:p>
            <a:pPr>
              <a:spcAft>
                <a:spcPts val="800"/>
              </a:spcAft>
              <a:defRPr sz="1900">
                <a:solidFill>
                  <a:srgbClr val="222222"/>
                </a:solidFill>
              </a:defRPr>
            </a:pPr>
            <a:r>
              <a:t>•  obstacle_guard_node: depth point cloud → world frame</a:t>
            </a:r>
          </a:p>
          <a:p>
            <a:pPr>
              <a:spcAft>
                <a:spcPts val="400"/>
              </a:spcAft>
              <a:defRPr sz="1600">
                <a:solidFill>
                  <a:srgbClr val="555555"/>
                </a:solidFill>
              </a:defRPr>
            </a:pPr>
            <a:r>
              <a:t>‒  publishes 4 corridor distances: main, tight, overtake-left, overtake-right</a:t>
            </a:r>
          </a:p>
          <a:p>
            <a:pPr>
              <a:spcAft>
                <a:spcPts val="400"/>
              </a:spcAft>
              <a:defRPr sz="1600">
                <a:solidFill>
                  <a:srgbClr val="555555"/>
                </a:solidFill>
              </a:defRPr>
            </a:pPr>
            <a:r>
              <a:t>‒  keeps points 0.35–3.0 m high, filtering road-surface noise</a:t>
            </a:r>
          </a:p>
          <a:p>
            <a:pPr>
              <a:spcAft>
                <a:spcPts val="400"/>
              </a:spcAft>
              <a:defRPr sz="1600">
                <a:solidFill>
                  <a:srgbClr val="555555"/>
                </a:solidFill>
              </a:defRPr>
            </a:pPr>
            <a:r>
              <a:t>‒  OctoMap cross-check (0.08–0.35 m band) catches curb-height misses</a:t>
            </a:r>
          </a:p>
          <a:p>
            <a:pPr>
              <a:spcAft>
                <a:spcPts val="800"/>
              </a:spcAft>
              <a:defRPr sz="1900">
                <a:solidFill>
                  <a:srgbClr val="222222"/>
                </a:solidFill>
              </a:defRPr>
            </a:pPr>
            <a:r>
              <a:t>•  traffic_light_node: HSV blob detection, shape-filtered</a:t>
            </a:r>
          </a:p>
          <a:p>
            <a:pPr>
              <a:spcAft>
                <a:spcPts val="400"/>
              </a:spcAft>
              <a:defRPr sz="1600">
                <a:solidFill>
                  <a:srgbClr val="555555"/>
                </a:solidFill>
              </a:defRPr>
            </a:pPr>
            <a:r>
              <a:t>‒  detects red &amp; green only; amber can't be separated from casing</a:t>
            </a:r>
          </a:p>
          <a:p>
            <a:pPr>
              <a:spcAft>
                <a:spcPts val="400"/>
              </a:spcAft>
              <a:defRPr sz="1600">
                <a:solidFill>
                  <a:srgbClr val="555555"/>
                </a:solidFill>
              </a:defRPr>
            </a:pPr>
            <a:r>
              <a:t>‒  "no fresh green" is treated as "keep waiting"</a:t>
            </a:r>
          </a:p>
          <a:p>
            <a:pPr>
              <a:spcAft>
                <a:spcPts val="800"/>
              </a:spcAft>
              <a:defRPr sz="1900">
                <a:solidFill>
                  <a:srgbClr val="222222"/>
                </a:solidFill>
              </a:defRPr>
            </a:pPr>
            <a:r>
              <a:t>•  No node ever uses the semantic camera — full bonus criterion claimed</a:t>
            </a:r>
          </a:p>
          <a:p>
            <a:pPr>
              <a:spcAft>
                <a:spcPts val="800"/>
              </a:spcAft>
              <a:defRPr sz="1900">
                <a:solidFill>
                  <a:srgbClr val="222222"/>
                </a:solidFill>
              </a:defRPr>
            </a:pPr>
            <a:r>
              <a:t>•  Limitation: ~0.7 Hz update rate, capped by simulator's single-core loop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77240"/>
          </a:xfrm>
          <a:prstGeom prst="rect">
            <a:avLst/>
          </a:prstGeom>
          <a:noFill/>
        </p:spPr>
        <p:txBody>
          <a:bodyPr wrap="square">
            <a:spAutoFit/>
          </a:bodyPr>
          <a:lstStyle/>
          <a:p>
            <a:pPr>
              <a:defRPr sz="3200" b="1">
                <a:solidFill>
                  <a:srgbClr val="1B2A4A"/>
                </a:solidFill>
              </a:defRPr>
            </a:pPr>
            <a:r>
              <a:t>Planning</a:t>
            </a:r>
          </a:p>
        </p:txBody>
      </p:sp>
      <p:sp>
        <p:nvSpPr>
          <p:cNvPr id="3" name="Rectangle 2"/>
          <p:cNvSpPr/>
          <p:nvPr/>
        </p:nvSpPr>
        <p:spPr>
          <a:xfrm>
            <a:off x="457200" y="1005840"/>
            <a:ext cx="11277295" cy="31750"/>
          </a:xfrm>
          <a:prstGeom prst="rect">
            <a:avLst/>
          </a:prstGeom>
          <a:solidFill>
            <a:srgbClr val="2E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43000"/>
            <a:ext cx="11277295" cy="5394960"/>
          </a:xfrm>
          <a:prstGeom prst="rect">
            <a:avLst/>
          </a:prstGeom>
          <a:noFill/>
        </p:spPr>
        <p:txBody>
          <a:bodyPr wrap="square">
            <a:spAutoFit/>
          </a:bodyPr>
          <a:lstStyle/>
          <a:p>
            <a:pPr>
              <a:spcAft>
                <a:spcPts val="800"/>
              </a:spcAft>
              <a:defRPr sz="1900">
                <a:solidFill>
                  <a:srgbClr val="222222"/>
                </a:solidFill>
              </a:defRPr>
            </a:pPr>
            <a:r>
              <a:t>•  route_planner_node — two responsibilities</a:t>
            </a:r>
          </a:p>
          <a:p>
            <a:pPr>
              <a:spcAft>
                <a:spcPts val="800"/>
              </a:spcAft>
              <a:defRPr sz="1900">
                <a:solidFill>
                  <a:srgbClr val="222222"/>
                </a:solidFill>
              </a:defRPr>
            </a:pPr>
            <a:r>
              <a:t>•  1. Base path (once, at startup):</a:t>
            </a:r>
          </a:p>
          <a:p>
            <a:pPr>
              <a:spcAft>
                <a:spcPts val="400"/>
              </a:spcAft>
              <a:defRPr sz="1600">
                <a:solidFill>
                  <a:srgbClr val="555555"/>
                </a:solidFill>
              </a:defRPr>
            </a:pPr>
            <a:r>
              <a:t>‒  right-hand lane offset, so the car keeps its own side of the road</a:t>
            </a:r>
          </a:p>
          <a:p>
            <a:pPr>
              <a:spcAft>
                <a:spcPts val="400"/>
              </a:spcAft>
              <a:defRPr sz="1600">
                <a:solidFill>
                  <a:srgbClr val="555555"/>
                </a:solidFill>
              </a:defRPr>
            </a:pPr>
            <a:r>
              <a:t>‒  iterative smoothing + curvature/acceleration-limited speed profile</a:t>
            </a:r>
          </a:p>
          <a:p>
            <a:pPr>
              <a:spcAft>
                <a:spcPts val="400"/>
              </a:spcAft>
              <a:defRPr sz="1600">
                <a:solidFill>
                  <a:srgbClr val="555555"/>
                </a:solidFill>
              </a:defRPr>
            </a:pPr>
            <a:r>
              <a:t>‒  covers both the path-planner and trajectory-planner roles</a:t>
            </a:r>
          </a:p>
          <a:p>
            <a:pPr>
              <a:spcAft>
                <a:spcPts val="800"/>
              </a:spcAft>
              <a:defRPr sz="1900">
                <a:solidFill>
                  <a:srgbClr val="222222"/>
                </a:solidFill>
              </a:defRPr>
            </a:pPr>
            <a:r>
              <a:t>•  2. Online updates:</a:t>
            </a:r>
          </a:p>
          <a:p>
            <a:pPr>
              <a:spcAft>
                <a:spcPts val="400"/>
              </a:spcAft>
              <a:defRPr sz="1600">
                <a:solidFill>
                  <a:srgbClr val="555555"/>
                </a:solidFill>
              </a:defRPr>
            </a:pPr>
            <a:r>
              <a:t>‒  detour replanning around confirmed static obstacles</a:t>
            </a:r>
          </a:p>
          <a:p>
            <a:pPr>
              <a:spcAft>
                <a:spcPts val="400"/>
              </a:spcAft>
              <a:defRPr sz="1600">
                <a:solidFill>
                  <a:srgbClr val="555555"/>
                </a:solidFill>
              </a:defRPr>
            </a:pPr>
            <a:r>
              <a:t>‒  located via binary search on arc length, not full rescans</a:t>
            </a:r>
          </a:p>
          <a:p>
            <a:pPr>
              <a:spcAft>
                <a:spcPts val="400"/>
              </a:spcAft>
              <a:defRPr sz="1600">
                <a:solidFill>
                  <a:srgbClr val="555555"/>
                </a:solidFill>
              </a:defRPr>
            </a:pPr>
            <a:r>
              <a:t>‒  smooth blend in/out; reverts once obstacle is clear</a:t>
            </a:r>
          </a:p>
          <a:p>
            <a:pPr>
              <a:spcAft>
                <a:spcPts val="400"/>
              </a:spcAft>
              <a:defRPr sz="1600">
                <a:solidFill>
                  <a:srgbClr val="555555"/>
                </a:solidFill>
              </a:defRPr>
            </a:pPr>
            <a:r>
              <a:t>‒  continuous nearest-still-ahead goal selection over 10 fixed poses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77240"/>
          </a:xfrm>
          <a:prstGeom prst="rect">
            <a:avLst/>
          </a:prstGeom>
          <a:noFill/>
        </p:spPr>
        <p:txBody>
          <a:bodyPr wrap="square">
            <a:spAutoFit/>
          </a:bodyPr>
          <a:lstStyle/>
          <a:p>
            <a:pPr>
              <a:defRPr sz="3200" b="1">
                <a:solidFill>
                  <a:srgbClr val="1B2A4A"/>
                </a:solidFill>
              </a:defRPr>
            </a:pPr>
            <a:r>
              <a:t>Control</a:t>
            </a:r>
          </a:p>
        </p:txBody>
      </p:sp>
      <p:sp>
        <p:nvSpPr>
          <p:cNvPr id="3" name="Rectangle 2"/>
          <p:cNvSpPr/>
          <p:nvPr/>
        </p:nvSpPr>
        <p:spPr>
          <a:xfrm>
            <a:off x="457200" y="1005840"/>
            <a:ext cx="11277295" cy="31750"/>
          </a:xfrm>
          <a:prstGeom prst="rect">
            <a:avLst/>
          </a:prstGeom>
          <a:solidFill>
            <a:srgbClr val="2E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43000"/>
            <a:ext cx="11277295" cy="5394960"/>
          </a:xfrm>
          <a:prstGeom prst="rect">
            <a:avLst/>
          </a:prstGeom>
          <a:noFill/>
        </p:spPr>
        <p:txBody>
          <a:bodyPr wrap="square">
            <a:spAutoFit/>
          </a:bodyPr>
          <a:lstStyle/>
          <a:p>
            <a:pPr>
              <a:spcAft>
                <a:spcPts val="800"/>
              </a:spcAft>
              <a:defRPr sz="1900">
                <a:solidFill>
                  <a:srgbClr val="222222"/>
                </a:solidFill>
              </a:defRPr>
            </a:pPr>
            <a:r>
              <a:t>•  pure_pursuit_node: pure-pursuit steering + proportional/feed-forward throttle</a:t>
            </a:r>
          </a:p>
          <a:p>
            <a:pPr>
              <a:spcAft>
                <a:spcPts val="800"/>
              </a:spcAft>
              <a:defRPr sz="1900">
                <a:solidFill>
                  <a:srgbClr val="222222"/>
                </a:solidFill>
              </a:defRPr>
            </a:pPr>
            <a:r>
              <a:t>•  /control/enable service — required, enabled by default at launch</a:t>
            </a:r>
          </a:p>
          <a:p>
            <a:pPr>
              <a:spcAft>
                <a:spcPts val="800"/>
              </a:spcAft>
              <a:defRPr sz="1900">
                <a:solidFill>
                  <a:srgbClr val="222222"/>
                </a:solidFill>
              </a:defRPr>
            </a:pPr>
            <a:r>
              <a:t>•  ACC-style gap control:</a:t>
            </a:r>
          </a:p>
          <a:p>
            <a:pPr>
              <a:spcAft>
                <a:spcPts val="400"/>
              </a:spcAft>
              <a:defRPr sz="1600">
                <a:solidFill>
                  <a:srgbClr val="555555"/>
                </a:solidFill>
              </a:defRPr>
            </a:pPr>
            <a:r>
              <a:t>‒  13 m standoff comfort-stop curve in the tight corridor</a:t>
            </a:r>
          </a:p>
          <a:p>
            <a:pPr>
              <a:spcAft>
                <a:spcPts val="400"/>
              </a:spcAft>
              <a:defRPr sz="1600">
                <a:solidFill>
                  <a:srgbClr val="555555"/>
                </a:solidFill>
              </a:defRPr>
            </a:pPr>
            <a:r>
              <a:t>‒  14–38 m wide-corridor speed ramp; also absorbs Event I (NPC merge)</a:t>
            </a:r>
          </a:p>
          <a:p>
            <a:pPr>
              <a:spcAft>
                <a:spcPts val="800"/>
              </a:spcAft>
              <a:defRPr sz="1900">
                <a:solidFill>
                  <a:srgbClr val="222222"/>
                </a:solidFill>
              </a:defRPr>
            </a:pPr>
            <a:r>
              <a:t>•  Traffic-light stop/go state machine</a:t>
            </a:r>
          </a:p>
          <a:p>
            <a:pPr>
              <a:spcAft>
                <a:spcPts val="800"/>
              </a:spcAft>
              <a:defRPr sz="1900">
                <a:solidFill>
                  <a:srgbClr val="222222"/>
                </a:solidFill>
              </a:defRPr>
            </a:pPr>
            <a:r>
              <a:t>•  Obstacle detour state machine (verify-before-commit)</a:t>
            </a:r>
          </a:p>
          <a:p>
            <a:pPr>
              <a:spcAft>
                <a:spcPts val="800"/>
              </a:spcAft>
              <a:defRPr sz="1900">
                <a:solidFill>
                  <a:srgbClr val="222222"/>
                </a:solidFill>
              </a:defRPr>
            </a:pPr>
            <a:r>
              <a:t>•  Emergency stop: brakes if required deceleration &gt; 4.0 m/s² (Event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77295" cy="777240"/>
          </a:xfrm>
          <a:prstGeom prst="rect">
            <a:avLst/>
          </a:prstGeom>
          <a:noFill/>
        </p:spPr>
        <p:txBody>
          <a:bodyPr wrap="square">
            <a:spAutoFit/>
          </a:bodyPr>
          <a:lstStyle/>
          <a:p>
            <a:pPr>
              <a:defRPr sz="3200" b="1">
                <a:solidFill>
                  <a:srgbClr val="1B2A4A"/>
                </a:solidFill>
              </a:defRPr>
            </a:pPr>
            <a:r>
              <a:t>Results</a:t>
            </a:r>
          </a:p>
        </p:txBody>
      </p:sp>
      <p:sp>
        <p:nvSpPr>
          <p:cNvPr id="3" name="Rectangle 2"/>
          <p:cNvSpPr/>
          <p:nvPr/>
        </p:nvSpPr>
        <p:spPr>
          <a:xfrm>
            <a:off x="457200" y="1005840"/>
            <a:ext cx="11277295" cy="31750"/>
          </a:xfrm>
          <a:prstGeom prst="rect">
            <a:avLst/>
          </a:prstGeom>
          <a:solidFill>
            <a:srgbClr val="2E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43000"/>
            <a:ext cx="6035040" cy="5212080"/>
          </a:xfrm>
          <a:prstGeom prst="rect">
            <a:avLst/>
          </a:prstGeom>
          <a:noFill/>
        </p:spPr>
        <p:txBody>
          <a:bodyPr wrap="square">
            <a:spAutoFit/>
          </a:bodyPr>
          <a:lstStyle/>
          <a:p>
            <a:pPr>
              <a:spcAft>
                <a:spcPts val="800"/>
              </a:spcAft>
              <a:defRPr sz="1600">
                <a:solidFill>
                  <a:srgbClr val="222222"/>
                </a:solidFill>
              </a:defRPr>
            </a:pPr>
            <a:r>
              <a:t>•  Fastest: two longest clear straights, peak 7.5 m/s</a:t>
            </a:r>
          </a:p>
          <a:p>
            <a:pPr>
              <a:spcAft>
                <a:spcPts val="800"/>
              </a:spcAft>
              <a:defRPr sz="1600">
                <a:solidFill>
                  <a:srgbClr val="222222"/>
                </a:solidFill>
              </a:defRPr>
            </a:pPr>
            <a:r>
              <a:t>•  Slowest (near-zero dips): detour spot, TL2/TL3 stops, 2 ACC slowdowns</a:t>
            </a:r>
          </a:p>
          <a:p>
            <a:pPr>
              <a:spcAft>
                <a:spcPts val="400"/>
              </a:spcAft>
              <a:defRPr sz="1400">
                <a:solidFill>
                  <a:srgbClr val="555555"/>
                </a:solidFill>
              </a:defRPr>
            </a:pPr>
            <a:r>
              <a:t>‒  ACC dips = Event I (merge) and Event II (crossing + hard brake, s≈531)</a:t>
            </a:r>
          </a:p>
          <a:p>
            <a:pPr>
              <a:spcAft>
                <a:spcPts val="800"/>
              </a:spcAft>
              <a:defRPr sz="1600">
                <a:solidFill>
                  <a:srgbClr val="222222"/>
                </a:solidFill>
              </a:defRPr>
            </a:pPr>
            <a:r>
              <a:t>•  Design choice that mattered: wide-corridor cap 2.5 → 2.5–6.5 m/s ramp</a:t>
            </a:r>
          </a:p>
          <a:p>
            <a:pPr>
              <a:spcAft>
                <a:spcPts val="400"/>
              </a:spcAft>
              <a:defRPr sz="1400">
                <a:solidFill>
                  <a:srgbClr val="555555"/>
                </a:solidFill>
              </a:defRPr>
            </a:pPr>
            <a:r>
              <a:t>‒  roadside furniture occupies that corridor 60–90% of route time</a:t>
            </a:r>
          </a:p>
          <a:p>
            <a:pPr>
              <a:spcAft>
                <a:spcPts val="400"/>
              </a:spcAft>
              <a:defRPr sz="1400">
                <a:solidFill>
                  <a:srgbClr val="555555"/>
                </a:solidFill>
              </a:defRPr>
            </a:pPr>
            <a:r>
              <a:t>‒  fixed route-wide starvation, not just one segment</a:t>
            </a:r>
          </a:p>
          <a:p>
            <a:pPr>
              <a:spcAft>
                <a:spcPts val="800"/>
              </a:spcAft>
              <a:defRPr sz="1600">
                <a:solidFill>
                  <a:srgbClr val="222222"/>
                </a:solidFill>
              </a:defRPr>
            </a:pPr>
            <a:r>
              <a:t>•  Extra compute is localized to the detour segment (replan + re-profile)</a:t>
            </a:r>
          </a:p>
          <a:p>
            <a:pPr>
              <a:spcAft>
                <a:spcPts val="800"/>
              </a:spcAft>
              <a:defRPr sz="1600">
                <a:solidFill>
                  <a:srgbClr val="222222"/>
                </a:solidFill>
              </a:defRPr>
            </a:pPr>
            <a:r>
              <a:t>•  System-wide limiter: perception's ~0.7 Hz update rate bounds top speed</a:t>
            </a:r>
          </a:p>
        </p:txBody>
      </p:sp>
      <p:pic>
        <p:nvPicPr>
          <p:cNvPr id="5" name="Picture 4" descr="route_speed_map.png"/>
          <p:cNvPicPr>
            <a:picLocks noChangeAspect="1"/>
          </p:cNvPicPr>
          <p:nvPr/>
        </p:nvPicPr>
        <p:blipFill>
          <a:blip r:embed="rId2"/>
          <a:stretch>
            <a:fillRect/>
          </a:stretch>
        </p:blipFill>
        <p:spPr>
          <a:xfrm>
            <a:off x="7581900" y="1143000"/>
            <a:ext cx="3307080" cy="2834640"/>
          </a:xfrm>
          <a:prstGeom prst="rect">
            <a:avLst/>
          </a:prstGeom>
        </p:spPr>
      </p:pic>
      <p:sp>
        <p:nvSpPr>
          <p:cNvPr id="6" name="TextBox 5"/>
          <p:cNvSpPr txBox="1"/>
          <p:nvPr/>
        </p:nvSpPr>
        <p:spPr>
          <a:xfrm>
            <a:off x="6720840" y="4023360"/>
            <a:ext cx="5029200" cy="274320"/>
          </a:xfrm>
          <a:prstGeom prst="rect">
            <a:avLst/>
          </a:prstGeom>
          <a:noFill/>
        </p:spPr>
        <p:txBody>
          <a:bodyPr wrap="square">
            <a:spAutoFit/>
          </a:bodyPr>
          <a:lstStyle/>
          <a:p>
            <a:pPr algn="ctr">
              <a:defRPr sz="1200" i="1">
                <a:solidFill>
                  <a:srgbClr val="555555"/>
                </a:solidFill>
              </a:defRPr>
            </a:pPr>
            <a:r>
              <a:t>Fig. 3 — Driven path colored by speed</a:t>
            </a:r>
          </a:p>
        </p:txBody>
      </p:sp>
      <p:pic>
        <p:nvPicPr>
          <p:cNvPr id="7" name="Picture 6" descr="speed_profile.png"/>
          <p:cNvPicPr>
            <a:picLocks noChangeAspect="1"/>
          </p:cNvPicPr>
          <p:nvPr/>
        </p:nvPicPr>
        <p:blipFill>
          <a:blip r:embed="rId3"/>
          <a:stretch>
            <a:fillRect/>
          </a:stretch>
        </p:blipFill>
        <p:spPr>
          <a:xfrm>
            <a:off x="6720840" y="4363720"/>
            <a:ext cx="5029200" cy="1788160"/>
          </a:xfrm>
          <a:prstGeom prst="rect">
            <a:avLst/>
          </a:prstGeom>
        </p:spPr>
      </p:pic>
      <p:sp>
        <p:nvSpPr>
          <p:cNvPr id="8" name="TextBox 7"/>
          <p:cNvSpPr txBox="1"/>
          <p:nvPr/>
        </p:nvSpPr>
        <p:spPr>
          <a:xfrm>
            <a:off x="6720840" y="6355080"/>
            <a:ext cx="5029200" cy="274320"/>
          </a:xfrm>
          <a:prstGeom prst="rect">
            <a:avLst/>
          </a:prstGeom>
          <a:noFill/>
        </p:spPr>
        <p:txBody>
          <a:bodyPr wrap="square">
            <a:spAutoFit/>
          </a:bodyPr>
          <a:lstStyle/>
          <a:p>
            <a:pPr algn="ctr">
              <a:defRPr sz="1200" i="1">
                <a:solidFill>
                  <a:srgbClr val="555555"/>
                </a:solidFill>
              </a:defRPr>
            </a:pPr>
            <a:r>
              <a:t>Fig. 4 — Speed vs. distance travelled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