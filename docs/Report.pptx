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This is our autonomous driving project for the Introduction to ROS course. I will walk through our system architecture, then planning, perception, and control, and finish with our test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car drives a fixed, roughly 785-meter urban loop, using waypoints published once at startup. We wrote five ROS 2 packages on top of two provided by the course, and we can think of the system in three layers, matching Figure 1. Planning decides where the car should go -- both the offline base route and live updates like rerouting around obstacles. Perception senses the world -- obstacles and traffic lights. And Control executes that path and reacts in real time -- steering, speed, and safety braking. Perception and planning both feed directly into control, and control is the only node that talks to the car itself. On the results side, a full benchmark run completed in 272 seconds with zero collisions, zero stalls, one obstacle detour, and two red-light stops handled correctly. Average speed was 2.7 meters per second, peaking at 7.5 on the two longest straights. Figure 5 shows the planned route on the course map, with the ten predefined goal poses our planner selects between.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is where the car decides where to go -- both offline and online. At startup, it builds a smooth base path that stays on the correct side of the road and sets a safe speed for every turn -- tighter turns get lower speeds. But it doesn't stop there: while driving, planning also reacts to the world at the path level. If control confirms a parked obstacle ahead, planning smoothly reroutes around it and returns to the normal path afterward. And it continuously picks the next checkpoint to aim for, out of ten fixed goal points placed around the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Perception's job is simple: sense the world and hand that information to planning and control. An obstacle detector uses the depth camera to build a 3D view of the road ahead, and tracks how far away the nearest obstacle is, in the driving lane as well as to the sides. It ignores ground-level noise and only counts real obstacles, and a backup 3D map check catches low, curb-height obstacles the live camera might miss. A traffic-light detector uses color to tell red from green, and deliberately never uses the labeled semantic camera, which earns us the assignment's full bonus. One trade-off: detection only updates about once a second, which limits how fast the car can safely drive.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takes the path from planning and the live readings from perception, and drives the car -- steering and speed. Steering aims at a point on the path ahead, a classic and reliable method. Speed follows adaptive-cruise-control logic, keeping a safe distance from whatever perception detects ahead. On top of that, it stops correctly at red lights, and when perception flags a parked obstacle, control verifies the path is clear before taking a smooth detour around it. Independent of everything else, an emergency-brake check runs continuously and stops the car immediately if a collision risk is detected. And a simple switch means the car is ready to drive automatically as soon as it starts 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 shows our driven path colored by speed, and Figure 4 shows that same speed against distance travelled. The fastest segments are the two longest clear straights, where we peak at 7.5 meters per second. The near-zero dips mark where we're slower: the detour location, the two traffic lights that were red on this run, and two ACC-managed slowdowns for the assignment's Event one and Event two encounters. One design choice mattered a lot here: we originally capped wide-corridor speed at a flat 2.5 meters per second, but roadside furniture sits in that corridor sixty to ninety percent of route time, so it was starving the whole run. Ramping that cap up to 6.5 meters per second fixed it route-wide, not just locally.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0152" cy="1188720"/>
          </a:xfrm>
          <a:prstGeom prst="rect">
            <a:avLst/>
          </a:prstGeom>
          <a:noFill/>
        </p:spPr>
        <p:txBody>
          <a:bodyPr wrap="square">
            <a:spAutoFit/>
          </a:bodyPr>
          <a:lstStyle/>
          <a:p>
            <a:pPr algn="ctr">
              <a:defRPr sz="4600" b="1">
                <a:solidFill>
                  <a:srgbClr val="FFFFFF"/>
                </a:solidFill>
              </a:defRPr>
            </a:pPr>
            <a:r>
              <a:t>Autonomous Driving Project</a:t>
            </a:r>
          </a:p>
        </p:txBody>
      </p:sp>
      <p:sp>
        <p:nvSpPr>
          <p:cNvPr id="4" name="TextBox 3"/>
          <p:cNvSpPr txBox="1"/>
          <p:nvPr/>
        </p:nvSpPr>
        <p:spPr>
          <a:xfrm>
            <a:off x="914400" y="3383280"/>
            <a:ext cx="10360152" cy="548640"/>
          </a:xfrm>
          <a:prstGeom prst="rect">
            <a:avLst/>
          </a:prstGeom>
          <a:noFill/>
        </p:spPr>
        <p:txBody>
          <a:bodyPr wrap="square">
            <a:spAutoFit/>
          </a:bodyPr>
          <a:lstStyle/>
          <a:p>
            <a:pPr algn="ctr">
              <a:defRPr sz="2200">
                <a:solidFill>
                  <a:srgbClr val="C9D6E8"/>
                </a:solidFill>
              </a:defRPr>
            </a:pPr>
            <a:r>
              <a:t>TUM "Introduction to ROS" 2026 — Autonomous Driving Group Project</a:t>
            </a:r>
          </a:p>
        </p:txBody>
      </p:sp>
      <p:sp>
        <p:nvSpPr>
          <p:cNvPr id="5" name="TextBox 4"/>
          <p:cNvSpPr txBox="1"/>
          <p:nvPr/>
        </p:nvSpPr>
        <p:spPr>
          <a:xfrm>
            <a:off x="914400" y="4480560"/>
            <a:ext cx="10360152" cy="457200"/>
          </a:xfrm>
          <a:prstGeom prst="rect">
            <a:avLst/>
          </a:prstGeom>
          <a:noFill/>
        </p:spPr>
        <p:txBody>
          <a:bodyPr wrap="square">
            <a:spAutoFit/>
          </a:bodyPr>
          <a:lstStyle/>
          <a:p>
            <a:pPr algn="ctr">
              <a:defRPr sz="1800">
                <a:solidFill>
                  <a:srgbClr val="9BB0CC"/>
                </a:solidFill>
              </a:defRPr>
            </a:pPr>
            <a:r>
              <a:t>Author 1  ·  Author 2  ·  Author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77240"/>
          </a:xfrm>
          <a:prstGeom prst="rect">
            <a:avLst/>
          </a:prstGeom>
          <a:noFill/>
        </p:spPr>
        <p:txBody>
          <a:bodyPr wrap="square">
            <a:spAutoFit/>
          </a:bodyPr>
          <a:lstStyle/>
          <a:p>
            <a:pPr>
              <a:defRPr sz="3400" b="1">
                <a:solidFill>
                  <a:srgbClr val="1B2A4A"/>
                </a:solidFill>
              </a:defRPr>
            </a:pPr>
            <a:r>
              <a:t>System Overview</a:t>
            </a:r>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43000"/>
            <a:ext cx="6035040" cy="5212080"/>
          </a:xfrm>
          <a:prstGeom prst="rect">
            <a:avLst/>
          </a:prstGeom>
          <a:noFill/>
        </p:spPr>
        <p:txBody>
          <a:bodyPr wrap="square">
            <a:spAutoFit/>
          </a:bodyPr>
          <a:lstStyle/>
          <a:p>
            <a:pPr>
              <a:spcAft>
                <a:spcPts val="800"/>
              </a:spcAft>
              <a:defRPr sz="1900">
                <a:solidFill>
                  <a:srgbClr val="222222"/>
                </a:solidFill>
              </a:defRPr>
            </a:pPr>
            <a:r>
              <a:t>•  Fixed ~785 m urban loop; waypoints published once at startup</a:t>
            </a:r>
          </a:p>
          <a:p>
            <a:pPr>
              <a:spcAft>
                <a:spcPts val="800"/>
              </a:spcAft>
              <a:defRPr sz="1900">
                <a:solidFill>
                  <a:srgbClr val="222222"/>
                </a:solidFill>
              </a:defRPr>
            </a:pPr>
            <a:r>
              <a:t>•  5 custom + 2 course-provided ROS 2 packages</a:t>
            </a:r>
          </a:p>
          <a:p>
            <a:pPr>
              <a:spcAft>
                <a:spcPts val="800"/>
              </a:spcAft>
              <a:defRPr sz="1900">
                <a:solidFill>
                  <a:srgbClr val="222222"/>
                </a:solidFill>
              </a:defRPr>
            </a:pPr>
            <a:r>
              <a:t>•  Three layers, matching Figure 1:</a:t>
            </a:r>
          </a:p>
          <a:p>
            <a:pPr>
              <a:spcAft>
                <a:spcPts val="400"/>
              </a:spcAft>
              <a:defRPr sz="1600">
                <a:solidFill>
                  <a:srgbClr val="555555"/>
                </a:solidFill>
              </a:defRPr>
            </a:pPr>
            <a:r>
              <a:t>‒  Planning — decides destinations</a:t>
            </a:r>
          </a:p>
          <a:p>
            <a:pPr>
              <a:spcAft>
                <a:spcPts val="400"/>
              </a:spcAft>
              <a:defRPr sz="1600">
                <a:solidFill>
                  <a:srgbClr val="555555"/>
                </a:solidFill>
              </a:defRPr>
            </a:pPr>
            <a:r>
              <a:t>‒  Perception — senses its surrounding environment</a:t>
            </a:r>
          </a:p>
          <a:p>
            <a:pPr>
              <a:spcAft>
                <a:spcPts val="400"/>
              </a:spcAft>
              <a:defRPr sz="1600">
                <a:solidFill>
                  <a:srgbClr val="555555"/>
                </a:solidFill>
              </a:defRPr>
            </a:pPr>
            <a:r>
              <a:t>‒  Control — drives the car &amp; reacts in real time</a:t>
            </a:r>
          </a:p>
          <a:p>
            <a:pPr>
              <a:spcAft>
                <a:spcPts val="800"/>
              </a:spcAft>
              <a:defRPr sz="1900">
                <a:solidFill>
                  <a:srgbClr val="222222"/>
                </a:solidFill>
              </a:defRPr>
            </a:pPr>
            <a:r>
              <a:t>•  Benchmark run: 272 s, zero collisions, zero stalls, 1 detour, 2 correct light stops</a:t>
            </a:r>
          </a:p>
          <a:p>
            <a:pPr>
              <a:spcAft>
                <a:spcPts val="400"/>
              </a:spcAft>
              <a:defRPr sz="1600">
                <a:solidFill>
                  <a:srgbClr val="555555"/>
                </a:solidFill>
              </a:defRPr>
            </a:pPr>
            <a:r>
              <a:t>‒  Average speed 2.7 m/s, peak 7.5 m/s on the longest straights</a:t>
            </a:r>
          </a:p>
        </p:txBody>
      </p:sp>
      <p:pic>
        <p:nvPicPr>
          <p:cNvPr id="5" name="Picture 4" descr="architecture_illustrated.png"/>
          <p:cNvPicPr>
            <a:picLocks noChangeAspect="1"/>
          </p:cNvPicPr>
          <p:nvPr/>
        </p:nvPicPr>
        <p:blipFill>
          <a:blip r:embed="rId2"/>
          <a:stretch>
            <a:fillRect/>
          </a:stretch>
        </p:blipFill>
        <p:spPr>
          <a:xfrm>
            <a:off x="8009707" y="1143000"/>
            <a:ext cx="2451465" cy="3063240"/>
          </a:xfrm>
          <a:prstGeom prst="rect">
            <a:avLst/>
          </a:prstGeom>
        </p:spPr>
      </p:pic>
      <p:sp>
        <p:nvSpPr>
          <p:cNvPr id="6" name="TextBox 5"/>
          <p:cNvSpPr txBox="1"/>
          <p:nvPr/>
        </p:nvSpPr>
        <p:spPr>
          <a:xfrm>
            <a:off x="6720840" y="4251960"/>
            <a:ext cx="5029200" cy="274320"/>
          </a:xfrm>
          <a:prstGeom prst="rect">
            <a:avLst/>
          </a:prstGeom>
          <a:noFill/>
        </p:spPr>
        <p:txBody>
          <a:bodyPr wrap="square">
            <a:spAutoFit/>
          </a:bodyPr>
          <a:lstStyle/>
          <a:p>
            <a:pPr algn="ctr">
              <a:defRPr sz="1300" i="1">
                <a:solidFill>
                  <a:srgbClr val="555555"/>
                </a:solidFill>
              </a:defRPr>
            </a:pPr>
            <a:r>
              <a:t>Fig. 1 — Node/data-flow architecture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77240"/>
          </a:xfrm>
          <a:prstGeom prst="rect">
            <a:avLst/>
          </a:prstGeom>
          <a:noFill/>
        </p:spPr>
        <p:txBody>
          <a:bodyPr wrap="square">
            <a:spAutoFit/>
          </a:bodyPr>
          <a:lstStyle/>
          <a:p>
            <a:pPr>
              <a:defRPr sz="3400" b="1">
                <a:solidFill>
                  <a:srgbClr val="1B2A4A"/>
                </a:solidFill>
              </a:defRPr>
            </a:pPr>
            <a:r>
              <a:t>Planning — Deciding Destinations</a:t>
            </a:r>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43000"/>
            <a:ext cx="6035040" cy="5394960"/>
          </a:xfrm>
          <a:prstGeom prst="rect">
            <a:avLst/>
          </a:prstGeom>
          <a:noFill/>
        </p:spPr>
        <p:txBody>
          <a:bodyPr wrap="square">
            <a:spAutoFit/>
          </a:bodyPr>
          <a:lstStyle/>
          <a:p>
            <a:pPr>
              <a:spcAft>
                <a:spcPts val="800"/>
              </a:spcAft>
              <a:defRPr sz="1900">
                <a:solidFill>
                  <a:srgbClr val="222222"/>
                </a:solidFill>
              </a:defRPr>
            </a:pPr>
            <a:r>
              <a:t>•  Builds the path the car follows — offline, and online corrections while driving</a:t>
            </a:r>
          </a:p>
          <a:p>
            <a:pPr>
              <a:spcAft>
                <a:spcPts val="800"/>
              </a:spcAft>
              <a:defRPr sz="1900">
                <a:solidFill>
                  <a:srgbClr val="222222"/>
                </a:solidFill>
              </a:defRPr>
            </a:pPr>
            <a:r>
              <a:t>•  Offline at startup: smooth base path on the correct side of the road</a:t>
            </a:r>
          </a:p>
          <a:p>
            <a:pPr>
              <a:spcAft>
                <a:spcPts val="400"/>
              </a:spcAft>
              <a:defRPr sz="1600">
                <a:solidFill>
                  <a:srgbClr val="555555"/>
                </a:solidFill>
              </a:defRPr>
            </a:pPr>
            <a:r>
              <a:t>‒  sets a safe speed for every turn — tighter turns, lower speed</a:t>
            </a:r>
          </a:p>
          <a:p>
            <a:pPr>
              <a:spcAft>
                <a:spcPts val="800"/>
              </a:spcAft>
              <a:defRPr sz="1900">
                <a:solidFill>
                  <a:srgbClr val="222222"/>
                </a:solidFill>
              </a:defRPr>
            </a:pPr>
            <a:r>
              <a:t>•  Online corrections: reactions to the world at the path level:</a:t>
            </a:r>
          </a:p>
          <a:p>
            <a:pPr>
              <a:spcAft>
                <a:spcPts val="400"/>
              </a:spcAft>
              <a:defRPr sz="1600">
                <a:solidFill>
                  <a:srgbClr val="555555"/>
                </a:solidFill>
              </a:defRPr>
            </a:pPr>
            <a:r>
              <a:t>‒  spots a parked obstacle → smoothly reroutes around it, then returns</a:t>
            </a:r>
          </a:p>
          <a:p>
            <a:pPr>
              <a:spcAft>
                <a:spcPts val="400"/>
              </a:spcAft>
              <a:defRPr sz="1600">
                <a:solidFill>
                  <a:srgbClr val="555555"/>
                </a:solidFill>
              </a:defRPr>
            </a:pPr>
            <a:r>
              <a:t>‒  continuously picks the next checkpoint to aim for</a:t>
            </a:r>
          </a:p>
          <a:p>
            <a:pPr>
              <a:spcAft>
                <a:spcPts val="400"/>
              </a:spcAft>
              <a:defRPr sz="1600">
                <a:solidFill>
                  <a:srgbClr val="555555"/>
                </a:solidFill>
              </a:defRPr>
            </a:pPr>
            <a:r>
              <a:t>‒  out of 10 fixed goal points placed around the loop</a:t>
            </a:r>
          </a:p>
        </p:txBody>
      </p:sp>
      <p:pic>
        <p:nvPicPr>
          <p:cNvPr id="5" name="Picture 4" descr="route_on_map.png"/>
          <p:cNvPicPr>
            <a:picLocks noChangeAspect="1"/>
          </p:cNvPicPr>
          <p:nvPr/>
        </p:nvPicPr>
        <p:blipFill>
          <a:blip r:embed="rId2"/>
          <a:stretch>
            <a:fillRect/>
          </a:stretch>
        </p:blipFill>
        <p:spPr>
          <a:xfrm>
            <a:off x="6928365" y="2377440"/>
            <a:ext cx="4614150" cy="2743200"/>
          </a:xfrm>
          <a:prstGeom prst="rect">
            <a:avLst/>
          </a:prstGeom>
        </p:spPr>
      </p:pic>
      <p:sp>
        <p:nvSpPr>
          <p:cNvPr id="6" name="TextBox 5"/>
          <p:cNvSpPr txBox="1"/>
          <p:nvPr/>
        </p:nvSpPr>
        <p:spPr>
          <a:xfrm>
            <a:off x="6720840" y="5166360"/>
            <a:ext cx="5029200" cy="274320"/>
          </a:xfrm>
          <a:prstGeom prst="rect">
            <a:avLst/>
          </a:prstGeom>
          <a:noFill/>
        </p:spPr>
        <p:txBody>
          <a:bodyPr wrap="square">
            <a:spAutoFit/>
          </a:bodyPr>
          <a:lstStyle/>
          <a:p>
            <a:pPr algn="ctr">
              <a:defRPr sz="1300" i="1">
                <a:solidFill>
                  <a:srgbClr val="555555"/>
                </a:solidFill>
              </a:defRPr>
            </a:pPr>
            <a:r>
              <a:t>Fig. 5 — Route with 10 predefined goal poses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77240"/>
          </a:xfrm>
          <a:prstGeom prst="rect">
            <a:avLst/>
          </a:prstGeom>
          <a:noFill/>
        </p:spPr>
        <p:txBody>
          <a:bodyPr wrap="square">
            <a:spAutoFit/>
          </a:bodyPr>
          <a:lstStyle/>
          <a:p>
            <a:pPr>
              <a:defRPr sz="3400" b="1">
                <a:solidFill>
                  <a:srgbClr val="1B2A4A"/>
                </a:solidFill>
              </a:defRPr>
            </a:pPr>
            <a:r>
              <a:t>Perception — Sensing the World</a:t>
            </a:r>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43000"/>
            <a:ext cx="11277295" cy="5394960"/>
          </a:xfrm>
          <a:prstGeom prst="rect">
            <a:avLst/>
          </a:prstGeom>
          <a:noFill/>
        </p:spPr>
        <p:txBody>
          <a:bodyPr wrap="square">
            <a:spAutoFit/>
          </a:bodyPr>
          <a:lstStyle/>
          <a:p>
            <a:pPr>
              <a:spcAft>
                <a:spcPts val="800"/>
              </a:spcAft>
              <a:defRPr sz="2300">
                <a:solidFill>
                  <a:srgbClr val="222222"/>
                </a:solidFill>
              </a:defRPr>
            </a:pPr>
            <a:r>
              <a:t>•  Feeds real-time awareness to both planning and control</a:t>
            </a:r>
          </a:p>
          <a:p>
            <a:pPr>
              <a:spcAft>
                <a:spcPts val="800"/>
              </a:spcAft>
              <a:defRPr sz="2300">
                <a:solidFill>
                  <a:srgbClr val="222222"/>
                </a:solidFill>
              </a:defRPr>
            </a:pPr>
            <a:r>
              <a:t>•  Obstacle detection: depth camera builds a 3D view of the road ahead</a:t>
            </a:r>
          </a:p>
          <a:p>
            <a:pPr>
              <a:spcAft>
                <a:spcPts val="400"/>
              </a:spcAft>
              <a:defRPr sz="1900">
                <a:solidFill>
                  <a:srgbClr val="555555"/>
                </a:solidFill>
              </a:defRPr>
            </a:pPr>
            <a:r>
              <a:t>‒  tracks distance to the nearest obstacle, in the driving lane and to the sides</a:t>
            </a:r>
          </a:p>
          <a:p>
            <a:pPr>
              <a:spcAft>
                <a:spcPts val="400"/>
              </a:spcAft>
              <a:defRPr sz="1900">
                <a:solidFill>
                  <a:srgbClr val="555555"/>
                </a:solidFill>
              </a:defRPr>
            </a:pPr>
            <a:r>
              <a:t>‒  ignores ground-level noise, only counts real obstacles</a:t>
            </a:r>
          </a:p>
          <a:p>
            <a:pPr>
              <a:spcAft>
                <a:spcPts val="400"/>
              </a:spcAft>
              <a:defRPr sz="1900">
                <a:solidFill>
                  <a:srgbClr val="555555"/>
                </a:solidFill>
              </a:defRPr>
            </a:pPr>
            <a:r>
              <a:t>‒  backup 3D map check catches low, curb-height obstacles the camera misses</a:t>
            </a:r>
          </a:p>
          <a:p>
            <a:pPr>
              <a:spcAft>
                <a:spcPts val="800"/>
              </a:spcAft>
              <a:defRPr sz="2300">
                <a:solidFill>
                  <a:srgbClr val="222222"/>
                </a:solidFill>
              </a:defRPr>
            </a:pPr>
            <a:r>
              <a:t>•  Traffic-light detection: RGB camera tells red from green</a:t>
            </a:r>
          </a:p>
          <a:p>
            <a:pPr>
              <a:spcAft>
                <a:spcPts val="800"/>
              </a:spcAft>
              <a:defRPr sz="2300">
                <a:solidFill>
                  <a:srgbClr val="222222"/>
                </a:solidFill>
              </a:defRPr>
            </a:pPr>
            <a:r>
              <a:t>•  Deliberately never uses the labeled (semantic) camera — full bonus earned</a:t>
            </a:r>
          </a:p>
          <a:p>
            <a:pPr>
              <a:spcAft>
                <a:spcPts val="800"/>
              </a:spcAft>
              <a:defRPr sz="2300">
                <a:solidFill>
                  <a:srgbClr val="222222"/>
                </a:solidFill>
              </a:defRPr>
            </a:pPr>
            <a:r>
              <a:t>•  Trade-off: detection updates only ~once a second, limiting safe driving speed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77240"/>
          </a:xfrm>
          <a:prstGeom prst="rect">
            <a:avLst/>
          </a:prstGeom>
          <a:noFill/>
        </p:spPr>
        <p:txBody>
          <a:bodyPr wrap="square">
            <a:spAutoFit/>
          </a:bodyPr>
          <a:lstStyle/>
          <a:p>
            <a:pPr>
              <a:defRPr sz="3400" b="1">
                <a:solidFill>
                  <a:srgbClr val="1B2A4A"/>
                </a:solidFill>
              </a:defRPr>
            </a:pPr>
            <a:r>
              <a:t>Control — Driving &amp; Reacting in Real Time</a:t>
            </a:r>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43000"/>
            <a:ext cx="11277295" cy="5394960"/>
          </a:xfrm>
          <a:prstGeom prst="rect">
            <a:avLst/>
          </a:prstGeom>
          <a:noFill/>
        </p:spPr>
        <p:txBody>
          <a:bodyPr wrap="square">
            <a:spAutoFit/>
          </a:bodyPr>
          <a:lstStyle/>
          <a:p>
            <a:pPr>
              <a:spcAft>
                <a:spcPts val="800"/>
              </a:spcAft>
              <a:defRPr sz="2300">
                <a:solidFill>
                  <a:srgbClr val="222222"/>
                </a:solidFill>
              </a:defRPr>
            </a:pPr>
            <a:r>
              <a:t>•  Takes the path from planning and the readings from perception, drives the car</a:t>
            </a:r>
          </a:p>
          <a:p>
            <a:pPr>
              <a:spcAft>
                <a:spcPts val="400"/>
              </a:spcAft>
              <a:defRPr sz="1900">
                <a:solidFill>
                  <a:srgbClr val="555555"/>
                </a:solidFill>
              </a:defRPr>
            </a:pPr>
            <a:r>
              <a:t>‒  Steering aims at a point ahead on the path (classic "pursuit" steering)</a:t>
            </a:r>
          </a:p>
          <a:p>
            <a:pPr>
              <a:spcAft>
                <a:spcPts val="400"/>
              </a:spcAft>
              <a:defRPr sz="1900">
                <a:solidFill>
                  <a:srgbClr val="555555"/>
                </a:solidFill>
              </a:defRPr>
            </a:pPr>
            <a:r>
              <a:t>‒  Speed follows a safe distance from anything ahead — like adaptive cruise control</a:t>
            </a:r>
          </a:p>
          <a:p>
            <a:pPr>
              <a:spcAft>
                <a:spcPts val="400"/>
              </a:spcAft>
              <a:defRPr sz="1900">
                <a:solidFill>
                  <a:srgbClr val="555555"/>
                </a:solidFill>
              </a:defRPr>
            </a:pPr>
            <a:r>
              <a:t>‒  Stops correctly at red lights, resumes on green</a:t>
            </a:r>
          </a:p>
          <a:p>
            <a:pPr>
              <a:spcAft>
                <a:spcPts val="800"/>
              </a:spcAft>
              <a:defRPr sz="2300">
                <a:solidFill>
                  <a:srgbClr val="222222"/>
                </a:solidFill>
              </a:defRPr>
            </a:pPr>
            <a:r>
              <a:t>•  When perception flags a parked obstacle → verifies it's clear, takes a smooth detour</a:t>
            </a:r>
          </a:p>
          <a:p>
            <a:pPr>
              <a:spcAft>
                <a:spcPts val="800"/>
              </a:spcAft>
              <a:defRPr sz="2300">
                <a:solidFill>
                  <a:srgbClr val="222222"/>
                </a:solidFill>
              </a:defRPr>
            </a:pPr>
            <a:r>
              <a:t>•  Independent emergency brake if a collision risk is detected</a:t>
            </a:r>
          </a:p>
          <a:p>
            <a:pPr>
              <a:spcAft>
                <a:spcPts val="800"/>
              </a:spcAft>
              <a:defRPr sz="2300">
                <a:solidFill>
                  <a:srgbClr val="222222"/>
                </a:solidFill>
              </a:defRPr>
            </a:pPr>
            <a:r>
              <a:t>•  Car is ready to drive automatically as soon as it starts 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77240"/>
          </a:xfrm>
          <a:prstGeom prst="rect">
            <a:avLst/>
          </a:prstGeom>
          <a:noFill/>
        </p:spPr>
        <p:txBody>
          <a:bodyPr wrap="square">
            <a:spAutoFit/>
          </a:bodyPr>
          <a:lstStyle/>
          <a:p>
            <a:pPr>
              <a:defRPr sz="3400" b="1">
                <a:solidFill>
                  <a:srgbClr val="1B2A4A"/>
                </a:solidFill>
              </a:defRPr>
            </a:pPr>
            <a:r>
              <a:t>Results</a:t>
            </a:r>
          </a:p>
        </p:txBody>
      </p:sp>
      <p:sp>
        <p:nvSpPr>
          <p:cNvPr id="3" name="Rectangle 2"/>
          <p:cNvSpPr/>
          <p:nvPr/>
        </p:nvSpPr>
        <p:spPr>
          <a:xfrm>
            <a:off x="457200" y="1005840"/>
            <a:ext cx="11277295" cy="31750"/>
          </a:xfrm>
          <a:prstGeom prst="rect">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43000"/>
            <a:ext cx="6035040" cy="5212080"/>
          </a:xfrm>
          <a:prstGeom prst="rect">
            <a:avLst/>
          </a:prstGeom>
          <a:noFill/>
        </p:spPr>
        <p:txBody>
          <a:bodyPr wrap="square">
            <a:spAutoFit/>
          </a:bodyPr>
          <a:lstStyle/>
          <a:p>
            <a:pPr>
              <a:spcAft>
                <a:spcPts val="800"/>
              </a:spcAft>
              <a:defRPr sz="1900">
                <a:solidFill>
                  <a:srgbClr val="222222"/>
                </a:solidFill>
              </a:defRPr>
            </a:pPr>
            <a:r>
              <a:t>•  Fastest: two longest clear straights, peak 7.5 m/s</a:t>
            </a:r>
          </a:p>
          <a:p>
            <a:pPr>
              <a:spcAft>
                <a:spcPts val="800"/>
              </a:spcAft>
              <a:defRPr sz="1900">
                <a:solidFill>
                  <a:srgbClr val="222222"/>
                </a:solidFill>
              </a:defRPr>
            </a:pPr>
            <a:r>
              <a:t>•  Slowest (near-zero dips): detour spot, TrafficLight2/TrafficLight3 stops, 2 ACC car following slowdowns</a:t>
            </a:r>
          </a:p>
          <a:p>
            <a:pPr>
              <a:spcAft>
                <a:spcPts val="400"/>
              </a:spcAft>
              <a:defRPr sz="1600">
                <a:solidFill>
                  <a:srgbClr val="555555"/>
                </a:solidFill>
              </a:defRPr>
            </a:pPr>
            <a:r>
              <a:t>‒  ACC dips = Event I (merge) and Event II (crossing + hard brake, s≈531)</a:t>
            </a:r>
          </a:p>
          <a:p>
            <a:pPr>
              <a:spcAft>
                <a:spcPts val="800"/>
              </a:spcAft>
              <a:defRPr sz="1900">
                <a:solidFill>
                  <a:srgbClr val="222222"/>
                </a:solidFill>
              </a:defRPr>
            </a:pPr>
            <a:r>
              <a:t>•  Design choice that mattered: wide-corridor cap 2.5 → 2.5~6.5 m/s ramp</a:t>
            </a:r>
          </a:p>
          <a:p>
            <a:pPr>
              <a:spcAft>
                <a:spcPts val="400"/>
              </a:spcAft>
              <a:defRPr sz="1600">
                <a:solidFill>
                  <a:srgbClr val="555555"/>
                </a:solidFill>
              </a:defRPr>
            </a:pPr>
            <a:r>
              <a:t>‒  roadside furniture occupies that corridor 60~90% of route time</a:t>
            </a:r>
          </a:p>
          <a:p>
            <a:pPr>
              <a:spcAft>
                <a:spcPts val="400"/>
              </a:spcAft>
              <a:defRPr sz="1600">
                <a:solidFill>
                  <a:srgbClr val="555555"/>
                </a:solidFill>
              </a:defRPr>
            </a:pPr>
            <a:r>
              <a:t>‒  fixed route-wide starvation, not just one segment</a:t>
            </a:r>
          </a:p>
          <a:p>
            <a:pPr>
              <a:spcAft>
                <a:spcPts val="800"/>
              </a:spcAft>
              <a:defRPr sz="1900">
                <a:solidFill>
                  <a:srgbClr val="222222"/>
                </a:solidFill>
              </a:defRPr>
            </a:pPr>
            <a:r>
              <a:t>•  Extra compute is localized to the detour segment (replan + re-profile)</a:t>
            </a:r>
          </a:p>
        </p:txBody>
      </p:sp>
      <p:pic>
        <p:nvPicPr>
          <p:cNvPr id="5" name="Picture 4" descr="route_speed_map.png"/>
          <p:cNvPicPr>
            <a:picLocks noChangeAspect="1"/>
          </p:cNvPicPr>
          <p:nvPr/>
        </p:nvPicPr>
        <p:blipFill>
          <a:blip r:embed="rId2"/>
          <a:stretch>
            <a:fillRect/>
          </a:stretch>
        </p:blipFill>
        <p:spPr>
          <a:xfrm>
            <a:off x="7581900" y="1143000"/>
            <a:ext cx="3307080" cy="2834640"/>
          </a:xfrm>
          <a:prstGeom prst="rect">
            <a:avLst/>
          </a:prstGeom>
        </p:spPr>
      </p:pic>
      <p:sp>
        <p:nvSpPr>
          <p:cNvPr id="6" name="TextBox 5"/>
          <p:cNvSpPr txBox="1"/>
          <p:nvPr/>
        </p:nvSpPr>
        <p:spPr>
          <a:xfrm>
            <a:off x="6720840" y="4023360"/>
            <a:ext cx="5029200" cy="274320"/>
          </a:xfrm>
          <a:prstGeom prst="rect">
            <a:avLst/>
          </a:prstGeom>
          <a:noFill/>
        </p:spPr>
        <p:txBody>
          <a:bodyPr wrap="square">
            <a:spAutoFit/>
          </a:bodyPr>
          <a:lstStyle/>
          <a:p>
            <a:pPr algn="ctr">
              <a:defRPr sz="1300" i="1">
                <a:solidFill>
                  <a:srgbClr val="555555"/>
                </a:solidFill>
              </a:defRPr>
            </a:pPr>
            <a:r>
              <a:t>Fig. 3 — Driven path colored by speed</a:t>
            </a:r>
          </a:p>
        </p:txBody>
      </p:sp>
      <p:pic>
        <p:nvPicPr>
          <p:cNvPr id="7" name="Picture 6" descr="speed_profile.png"/>
          <p:cNvPicPr>
            <a:picLocks noChangeAspect="1"/>
          </p:cNvPicPr>
          <p:nvPr/>
        </p:nvPicPr>
        <p:blipFill>
          <a:blip r:embed="rId3"/>
          <a:stretch>
            <a:fillRect/>
          </a:stretch>
        </p:blipFill>
        <p:spPr>
          <a:xfrm>
            <a:off x="6720840" y="4363720"/>
            <a:ext cx="5029200" cy="1788160"/>
          </a:xfrm>
          <a:prstGeom prst="rect">
            <a:avLst/>
          </a:prstGeom>
        </p:spPr>
      </p:pic>
      <p:sp>
        <p:nvSpPr>
          <p:cNvPr id="8" name="TextBox 7"/>
          <p:cNvSpPr txBox="1"/>
          <p:nvPr/>
        </p:nvSpPr>
        <p:spPr>
          <a:xfrm>
            <a:off x="6720840" y="6355080"/>
            <a:ext cx="5029200" cy="274320"/>
          </a:xfrm>
          <a:prstGeom prst="rect">
            <a:avLst/>
          </a:prstGeom>
          <a:noFill/>
        </p:spPr>
        <p:txBody>
          <a:bodyPr wrap="square">
            <a:spAutoFit/>
          </a:bodyPr>
          <a:lstStyle/>
          <a:p>
            <a:pPr algn="ctr">
              <a:defRPr sz="1300" i="1">
                <a:solidFill>
                  <a:srgbClr val="555555"/>
                </a:solidFill>
              </a:defRPr>
            </a:pPr>
            <a:r>
              <a:t>Fig. 4 — Speed vs. distance travelled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