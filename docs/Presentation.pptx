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917"/>
    <p:restoredTop sz="79599"/>
  </p:normalViewPr>
  <p:slideViewPr>
    <p:cSldViewPr snapToGrid="0" snapToObjects="1">
      <p:cViewPr>
        <p:scale>
          <a:sx n="86" d="100"/>
          <a:sy n="86" d="100"/>
        </p:scale>
        <p:origin x="960" y="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965576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Good afternoon. This is our autonomous driving project for the Introduction to ROS course. I will walk through our system architecture, then planning, perception, and control, and finish with our test results.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Our car drives a fixed, roughly 785-meter urban loop, using waypoints published once at startup. We wrote five ROS 2 packages on top of two provided by the course, and we can think of the system in three layers, matching Figure 1. Planning decides where the car should go -- both the offline base route and online updates like rerouting around obstacles. Perception senses the world, including obstacles and traffic lights. And Control </a:t>
            </a:r>
            <a:r>
              <a:rPr b="0" dirty="0"/>
              <a:t>executes</a:t>
            </a:r>
            <a:r>
              <a:rPr dirty="0"/>
              <a:t> that path and reacts in real time, like steering, speed, and safety braking. Perception and planning both feed directly into control, and control is the only node that talks to the car itself. On the results side, a full benchmark run completed in 272 seconds with zero collisions, zero stalls, one obstacle detour, and two red-light stops handled correctly. Average speed was 2.7 meters per second, peaking at 7.5 on the two longest straights. The figure below shows the planned route on the course map, with the ten predefined goal poses our planner selects between.</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Planning is where the car decides where to go -- both offline and online. At startup, it builds a smooth base path that stays on the right side of the road and sets a safe speed for every turn, eventually, tighter turns get lower speeds. But it doesn't stop there: while driving, planning also reacts to the world at the path level. When the perception node flags an obstacle ahead and the control node confirms it's actually parked, planning smoothly reroutes around it and returns to the normal path afterward. And it continuously picks the next checkpoint to aim for. </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Perception's job is simple: sense the world and hand that information to planning and control. </a:t>
            </a:r>
            <a:endParaRPr lang="en-US" dirty="0"/>
          </a:p>
          <a:p>
            <a:r>
              <a:rPr dirty="0"/>
              <a:t>An obstacle detector uses the depth camera to build a 3D view of the road ahead, and tracks how far away the nearest obstacle is, in the driving lane as well as to the sides. It ignores ground-level noise and only counts real obstacles, and a backup 3D map check catches low, curb-height obstacles the live camera might miss. A traffic-light detector uses color to tell red from green, and deliberately never uses the labeled semantic camera. </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Control takes the path from planning and the live readings from perception, and drives the car </a:t>
            </a:r>
            <a:r>
              <a:rPr lang="en-US" dirty="0"/>
              <a:t>by</a:t>
            </a:r>
            <a:r>
              <a:rPr dirty="0"/>
              <a:t> steering and </a:t>
            </a:r>
            <a:r>
              <a:rPr lang="en-US" dirty="0"/>
              <a:t>speed. </a:t>
            </a:r>
            <a:br>
              <a:rPr lang="en-US" dirty="0"/>
            </a:br>
            <a:r>
              <a:rPr lang="en-US" dirty="0"/>
              <a:t>We use Pure Pursuit for steering while we calculate a leading point and its corresponding steering angle.</a:t>
            </a:r>
          </a:p>
          <a:p>
            <a:r>
              <a:rPr lang="en-US" dirty="0"/>
              <a:t>We use P control with feed-forward for throttle and braking. It slows down with ACC, applies emergency braking when needed, and requests a detour for static obstacles</a:t>
            </a:r>
            <a:r>
              <a:rPr dirty="0"/>
              <a:t>. On top of that, it stops correctly at red lights, and when the perception node flags a parked obstacle, the control node verifies the path is clear before taking a smooth detour around it. Independent of everything else, an emergency-brake check runs continuously and stops the car immediately if a collision risk is detected. </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ltLang="zh-TW" dirty="0"/>
              <a:t>The full run completed in 272 seconds with zero collisions, zero stalls. The figure above shows the driven path colored by speed, The one below shows the same against distance. We peak at 7.5 meters per second on the longest straights; the near-zero dips are the detour, two red-light stops, and two ACC slowdowns for Event I and Event II. One mitigation mattered a lot: a flat 2.5 meter-per-second wide-corridor cap was starving the whole run, since roadside furniture sits in that corridor sixty to ninety percent of the time -- ramping it to 6.5 fixed most of that. Two limitations remain, though. A detour replan isn't incremental -- it still re-profiles and republishes the entire trajectory, which won't scale to a longer or more dynamic map. And the wide corridor still can't tell a real hazard from roadside clutter, so the ramp only softens, not removes, that false caution -- likely a real reason our average speed is only 2.7 versus a 7.5 peak.</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8/4/26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8/4/26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8/4/26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8/4/26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5.png"/><Relationship Id="rId3" Type="http://schemas.openxmlformats.org/officeDocument/2006/relationships/image" Target="../media/image9.png"/><Relationship Id="rId7" Type="http://schemas.openxmlformats.org/officeDocument/2006/relationships/image" Target="../media/image13.png"/><Relationship Id="rId12" Type="http://schemas.openxmlformats.org/officeDocument/2006/relationships/image" Target="../media/image13.sv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10.png"/><Relationship Id="rId11" Type="http://schemas.openxmlformats.org/officeDocument/2006/relationships/image" Target="../media/image17.png"/><Relationship Id="rId5" Type="http://schemas.openxmlformats.org/officeDocument/2006/relationships/image" Target="../media/image11.png"/><Relationship Id="rId10" Type="http://schemas.openxmlformats.org/officeDocument/2006/relationships/image" Target="../media/image16.png"/><Relationship Id="rId4" Type="http://schemas.openxmlformats.org/officeDocument/2006/relationships/image" Target="../media/image9.svg"/><Relationship Id="rId9"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1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2286000"/>
            <a:ext cx="10360152" cy="1188720"/>
          </a:xfrm>
          <a:prstGeom prst="rect">
            <a:avLst/>
          </a:prstGeom>
          <a:noFill/>
        </p:spPr>
        <p:txBody>
          <a:bodyPr wrap="square">
            <a:spAutoFit/>
          </a:bodyPr>
          <a:lstStyle/>
          <a:p>
            <a:pPr algn="ctr">
              <a:defRPr sz="4600" b="1">
                <a:solidFill>
                  <a:srgbClr val="FFFFFF"/>
                </a:solidFill>
              </a:defRPr>
            </a:pPr>
            <a:r>
              <a:t>Autonomous Driving Project</a:t>
            </a:r>
          </a:p>
        </p:txBody>
      </p:sp>
      <p:sp>
        <p:nvSpPr>
          <p:cNvPr id="4" name="TextBox 3"/>
          <p:cNvSpPr txBox="1"/>
          <p:nvPr/>
        </p:nvSpPr>
        <p:spPr>
          <a:xfrm>
            <a:off x="914400" y="3383280"/>
            <a:ext cx="10360152" cy="430887"/>
          </a:xfrm>
          <a:prstGeom prst="rect">
            <a:avLst/>
          </a:prstGeom>
          <a:noFill/>
        </p:spPr>
        <p:txBody>
          <a:bodyPr wrap="square">
            <a:spAutoFit/>
          </a:bodyPr>
          <a:lstStyle/>
          <a:p>
            <a:pPr algn="ctr">
              <a:defRPr sz="2200">
                <a:solidFill>
                  <a:srgbClr val="C9D6E8"/>
                </a:solidFill>
              </a:defRPr>
            </a:pPr>
            <a:r>
              <a:rPr dirty="0"/>
              <a:t>TUM "Introduction to ROS" 2026 —</a:t>
            </a:r>
            <a:r>
              <a:rPr lang="en-US" dirty="0"/>
              <a:t> </a:t>
            </a:r>
            <a:r>
              <a:rPr dirty="0"/>
              <a:t>Group </a:t>
            </a:r>
            <a:r>
              <a:rPr lang="en-US" dirty="0"/>
              <a:t>10</a:t>
            </a:r>
            <a:endParaRPr dirty="0"/>
          </a:p>
        </p:txBody>
      </p:sp>
      <p:sp>
        <p:nvSpPr>
          <p:cNvPr id="5" name="TextBox 4"/>
          <p:cNvSpPr txBox="1"/>
          <p:nvPr/>
        </p:nvSpPr>
        <p:spPr>
          <a:xfrm>
            <a:off x="914400" y="4480560"/>
            <a:ext cx="10360152" cy="369332"/>
          </a:xfrm>
          <a:prstGeom prst="rect">
            <a:avLst/>
          </a:prstGeom>
          <a:noFill/>
        </p:spPr>
        <p:txBody>
          <a:bodyPr wrap="square">
            <a:spAutoFit/>
          </a:bodyPr>
          <a:lstStyle/>
          <a:p>
            <a:pPr algn="ctr">
              <a:defRPr sz="1800">
                <a:solidFill>
                  <a:srgbClr val="9BB0CC"/>
                </a:solidFill>
              </a:defRPr>
            </a:pPr>
            <a:r>
              <a:rPr lang="en-US" dirty="0"/>
              <a:t>Feng-En Yeh </a:t>
            </a:r>
            <a:r>
              <a:rPr dirty="0"/>
              <a:t>· </a:t>
            </a:r>
            <a:r>
              <a:rPr lang="en-US" dirty="0"/>
              <a:t>Zeyun Yan</a:t>
            </a:r>
            <a:r>
              <a:rPr dirty="0"/>
              <a:t> · </a:t>
            </a:r>
            <a:r>
              <a:rPr lang="en-US" dirty="0"/>
              <a:t>Yuan Li</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11277295" cy="777240"/>
          </a:xfrm>
          <a:prstGeom prst="rect">
            <a:avLst/>
          </a:prstGeom>
          <a:noFill/>
        </p:spPr>
        <p:txBody>
          <a:bodyPr wrap="square">
            <a:spAutoFit/>
          </a:bodyPr>
          <a:lstStyle/>
          <a:p>
            <a:pPr>
              <a:defRPr sz="3400" b="1">
                <a:solidFill>
                  <a:srgbClr val="1B2A4A"/>
                </a:solidFill>
              </a:defRPr>
            </a:pPr>
            <a:r>
              <a:t>System Overview</a:t>
            </a:r>
          </a:p>
        </p:txBody>
      </p:sp>
      <p:sp>
        <p:nvSpPr>
          <p:cNvPr id="3" name="Rectangle 2"/>
          <p:cNvSpPr/>
          <p:nvPr/>
        </p:nvSpPr>
        <p:spPr>
          <a:xfrm>
            <a:off x="457200" y="1005840"/>
            <a:ext cx="11277295" cy="31750"/>
          </a:xfrm>
          <a:prstGeom prst="rect">
            <a:avLst/>
          </a:prstGeom>
          <a:solidFill>
            <a:srgbClr val="2E6F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143000"/>
            <a:ext cx="6035040" cy="5212080"/>
          </a:xfrm>
          <a:prstGeom prst="rect">
            <a:avLst/>
          </a:prstGeom>
          <a:noFill/>
        </p:spPr>
        <p:txBody>
          <a:bodyPr wrap="square">
            <a:spAutoFit/>
          </a:bodyPr>
          <a:lstStyle/>
          <a:p>
            <a:pPr>
              <a:spcAft>
                <a:spcPts val="800"/>
              </a:spcAft>
              <a:defRPr sz="1900">
                <a:solidFill>
                  <a:srgbClr val="222222"/>
                </a:solidFill>
              </a:defRPr>
            </a:pPr>
            <a:r>
              <a:rPr dirty="0"/>
              <a:t>•  Fixed ~785 m urban loop; waypoints published once at startup</a:t>
            </a:r>
          </a:p>
          <a:p>
            <a:pPr>
              <a:spcAft>
                <a:spcPts val="800"/>
              </a:spcAft>
              <a:defRPr sz="1900">
                <a:solidFill>
                  <a:srgbClr val="222222"/>
                </a:solidFill>
              </a:defRPr>
            </a:pPr>
            <a:r>
              <a:rPr dirty="0"/>
              <a:t>•  5 custom + 2 course-provided ROS 2 packages</a:t>
            </a:r>
          </a:p>
          <a:p>
            <a:pPr>
              <a:spcAft>
                <a:spcPts val="800"/>
              </a:spcAft>
              <a:defRPr sz="1900">
                <a:solidFill>
                  <a:srgbClr val="222222"/>
                </a:solidFill>
              </a:defRPr>
            </a:pPr>
            <a:r>
              <a:rPr dirty="0"/>
              <a:t>•  Three layers, matching Figure 1:</a:t>
            </a:r>
          </a:p>
          <a:p>
            <a:pPr>
              <a:spcAft>
                <a:spcPts val="400"/>
              </a:spcAft>
              <a:defRPr sz="1600">
                <a:solidFill>
                  <a:srgbClr val="555555"/>
                </a:solidFill>
              </a:defRPr>
            </a:pPr>
            <a:r>
              <a:rPr dirty="0"/>
              <a:t>‒  Planning — decides destinations</a:t>
            </a:r>
          </a:p>
          <a:p>
            <a:pPr>
              <a:spcAft>
                <a:spcPts val="400"/>
              </a:spcAft>
              <a:defRPr sz="1600">
                <a:solidFill>
                  <a:srgbClr val="555555"/>
                </a:solidFill>
              </a:defRPr>
            </a:pPr>
            <a:r>
              <a:rPr dirty="0"/>
              <a:t>‒  Perception — senses its surrounding environment</a:t>
            </a:r>
          </a:p>
          <a:p>
            <a:pPr>
              <a:spcAft>
                <a:spcPts val="400"/>
              </a:spcAft>
              <a:defRPr sz="1600">
                <a:solidFill>
                  <a:srgbClr val="555555"/>
                </a:solidFill>
              </a:defRPr>
            </a:pPr>
            <a:r>
              <a:rPr dirty="0"/>
              <a:t>‒  Control — drives the car &amp; reacts in real time</a:t>
            </a:r>
          </a:p>
          <a:p>
            <a:pPr>
              <a:spcAft>
                <a:spcPts val="800"/>
              </a:spcAft>
              <a:defRPr sz="1900">
                <a:solidFill>
                  <a:srgbClr val="222222"/>
                </a:solidFill>
              </a:defRPr>
            </a:pPr>
            <a:r>
              <a:rPr dirty="0"/>
              <a:t>•  Full benchmark run: 272 s, zero collisions, zero stalls, 1 detour, 2 correct red light stops</a:t>
            </a:r>
          </a:p>
          <a:p>
            <a:pPr>
              <a:spcAft>
                <a:spcPts val="400"/>
              </a:spcAft>
              <a:defRPr sz="1600">
                <a:solidFill>
                  <a:srgbClr val="555555"/>
                </a:solidFill>
              </a:defRPr>
            </a:pPr>
            <a:r>
              <a:rPr dirty="0"/>
              <a:t>‒  Average speed 2.7 m/s, peak 7.5 m/s on the longest straights</a:t>
            </a:r>
          </a:p>
        </p:txBody>
      </p:sp>
      <p:pic>
        <p:nvPicPr>
          <p:cNvPr id="5" name="Picture 4" descr="architecture_illustrated.png"/>
          <p:cNvPicPr>
            <a:picLocks noChangeAspect="1"/>
          </p:cNvPicPr>
          <p:nvPr/>
        </p:nvPicPr>
        <p:blipFill>
          <a:blip r:embed="rId3"/>
          <a:stretch>
            <a:fillRect/>
          </a:stretch>
        </p:blipFill>
        <p:spPr>
          <a:xfrm>
            <a:off x="7169426" y="1117103"/>
            <a:ext cx="4047120" cy="5057098"/>
          </a:xfrm>
          <a:prstGeom prst="rect">
            <a:avLst/>
          </a:prstGeom>
        </p:spPr>
      </p:pic>
      <p:sp>
        <p:nvSpPr>
          <p:cNvPr id="6" name="TextBox 5"/>
          <p:cNvSpPr txBox="1"/>
          <p:nvPr/>
        </p:nvSpPr>
        <p:spPr>
          <a:xfrm>
            <a:off x="8022488" y="6208886"/>
            <a:ext cx="2340997" cy="292388"/>
          </a:xfrm>
          <a:prstGeom prst="rect">
            <a:avLst/>
          </a:prstGeom>
          <a:noFill/>
        </p:spPr>
        <p:txBody>
          <a:bodyPr wrap="square">
            <a:spAutoFit/>
          </a:bodyPr>
          <a:lstStyle/>
          <a:p>
            <a:pPr algn="ctr">
              <a:defRPr sz="1300" i="1">
                <a:solidFill>
                  <a:srgbClr val="555555"/>
                </a:solidFill>
              </a:defRPr>
            </a:pPr>
            <a:r>
              <a:rPr dirty="0"/>
              <a:t>Node/data-flow architecture</a:t>
            </a:r>
          </a:p>
        </p:txBody>
      </p:sp>
      <p:grpSp>
        <p:nvGrpSpPr>
          <p:cNvPr id="9" name="群組 8">
            <a:extLst>
              <a:ext uri="{FF2B5EF4-FFF2-40B4-BE49-F238E27FC236}">
                <a16:creationId xmlns:a16="http://schemas.microsoft.com/office/drawing/2014/main" id="{77D21F6D-AA3A-1179-2BF8-89AEF89435FA}"/>
              </a:ext>
            </a:extLst>
          </p:cNvPr>
          <p:cNvGrpSpPr/>
          <p:nvPr/>
        </p:nvGrpSpPr>
        <p:grpSpPr>
          <a:xfrm>
            <a:off x="596348" y="4572000"/>
            <a:ext cx="6219488" cy="2104103"/>
            <a:chOff x="1166192" y="4571017"/>
            <a:chExt cx="6219488" cy="2104103"/>
          </a:xfrm>
        </p:grpSpPr>
        <p:pic>
          <p:nvPicPr>
            <p:cNvPr id="7" name="Picture 6" descr="route_on_map.png"/>
            <p:cNvPicPr>
              <a:picLocks noChangeAspect="1"/>
            </p:cNvPicPr>
            <p:nvPr/>
          </p:nvPicPr>
          <p:blipFill>
            <a:blip r:embed="rId4"/>
            <a:stretch>
              <a:fillRect/>
            </a:stretch>
          </p:blipFill>
          <p:spPr>
            <a:xfrm>
              <a:off x="1166192" y="4571017"/>
              <a:ext cx="3539168" cy="2104103"/>
            </a:xfrm>
            <a:prstGeom prst="rect">
              <a:avLst/>
            </a:prstGeom>
          </p:spPr>
        </p:pic>
        <p:sp>
          <p:nvSpPr>
            <p:cNvPr id="8" name="TextBox 7"/>
            <p:cNvSpPr txBox="1"/>
            <p:nvPr/>
          </p:nvSpPr>
          <p:spPr>
            <a:xfrm>
              <a:off x="4579685" y="6355080"/>
              <a:ext cx="2805995" cy="292388"/>
            </a:xfrm>
            <a:prstGeom prst="rect">
              <a:avLst/>
            </a:prstGeom>
            <a:noFill/>
          </p:spPr>
          <p:txBody>
            <a:bodyPr wrap="square">
              <a:spAutoFit/>
            </a:bodyPr>
            <a:lstStyle/>
            <a:p>
              <a:pPr algn="ctr">
                <a:defRPr sz="1300" i="1">
                  <a:solidFill>
                    <a:srgbClr val="555555"/>
                  </a:solidFill>
                </a:defRPr>
              </a:pPr>
              <a:r>
                <a:rPr dirty="0"/>
                <a:t>Route with 10 predefined goal poses</a:t>
              </a: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11277295" cy="615553"/>
          </a:xfrm>
          <a:prstGeom prst="rect">
            <a:avLst/>
          </a:prstGeom>
          <a:noFill/>
        </p:spPr>
        <p:txBody>
          <a:bodyPr wrap="square">
            <a:spAutoFit/>
          </a:bodyPr>
          <a:lstStyle/>
          <a:p>
            <a:pPr>
              <a:defRPr sz="3400" b="1">
                <a:solidFill>
                  <a:srgbClr val="1B2A4A"/>
                </a:solidFill>
              </a:defRPr>
            </a:pPr>
            <a:r>
              <a:rPr dirty="0"/>
              <a:t>Planning — Deciding Destinations</a:t>
            </a:r>
            <a:r>
              <a:rPr lang="en-US" dirty="0"/>
              <a:t> </a:t>
            </a:r>
            <a:r>
              <a:rPr lang="en-US" sz="2800" dirty="0"/>
              <a:t>(Yeh Feng-En)</a:t>
            </a:r>
            <a:endParaRPr sz="2800" dirty="0"/>
          </a:p>
        </p:txBody>
      </p:sp>
      <p:sp>
        <p:nvSpPr>
          <p:cNvPr id="3" name="Rectangle 2"/>
          <p:cNvSpPr/>
          <p:nvPr/>
        </p:nvSpPr>
        <p:spPr>
          <a:xfrm>
            <a:off x="457200" y="1005840"/>
            <a:ext cx="11277295" cy="31750"/>
          </a:xfrm>
          <a:prstGeom prst="rect">
            <a:avLst/>
          </a:prstGeom>
          <a:solidFill>
            <a:srgbClr val="2E6F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143000"/>
            <a:ext cx="11277295" cy="2970044"/>
          </a:xfrm>
          <a:prstGeom prst="rect">
            <a:avLst/>
          </a:prstGeom>
          <a:noFill/>
        </p:spPr>
        <p:txBody>
          <a:bodyPr wrap="square">
            <a:spAutoFit/>
          </a:bodyPr>
          <a:lstStyle/>
          <a:p>
            <a:pPr>
              <a:spcAft>
                <a:spcPts val="800"/>
              </a:spcAft>
              <a:defRPr sz="2300">
                <a:solidFill>
                  <a:srgbClr val="222222"/>
                </a:solidFill>
              </a:defRPr>
            </a:pPr>
            <a:r>
              <a:rPr dirty="0"/>
              <a:t>•  Builds the path the car follows — offline, and online corrections while driving</a:t>
            </a:r>
          </a:p>
          <a:p>
            <a:pPr>
              <a:spcAft>
                <a:spcPts val="800"/>
              </a:spcAft>
              <a:defRPr sz="2300">
                <a:solidFill>
                  <a:srgbClr val="222222"/>
                </a:solidFill>
              </a:defRPr>
            </a:pPr>
            <a:r>
              <a:rPr dirty="0"/>
              <a:t>•  Offline </a:t>
            </a:r>
            <a:r>
              <a:rPr lang="en-US" dirty="0"/>
              <a:t>planning </a:t>
            </a:r>
            <a:r>
              <a:rPr dirty="0"/>
              <a:t>at startup: smooth base path on the correct side of the road</a:t>
            </a:r>
          </a:p>
          <a:p>
            <a:pPr>
              <a:spcAft>
                <a:spcPts val="400"/>
              </a:spcAft>
              <a:defRPr sz="1900">
                <a:solidFill>
                  <a:srgbClr val="555555"/>
                </a:solidFill>
              </a:defRPr>
            </a:pPr>
            <a:r>
              <a:rPr sz="2200" dirty="0"/>
              <a:t>‒  sets a safe speed for every turn — tighter turns, lower speed</a:t>
            </a:r>
          </a:p>
          <a:p>
            <a:pPr>
              <a:spcAft>
                <a:spcPts val="800"/>
              </a:spcAft>
              <a:defRPr sz="2300">
                <a:solidFill>
                  <a:srgbClr val="222222"/>
                </a:solidFill>
              </a:defRPr>
            </a:pPr>
            <a:r>
              <a:rPr dirty="0"/>
              <a:t>•  Online corrections: reactions to the world at the path level:</a:t>
            </a:r>
          </a:p>
          <a:p>
            <a:pPr>
              <a:spcAft>
                <a:spcPts val="400"/>
              </a:spcAft>
              <a:defRPr sz="1900">
                <a:solidFill>
                  <a:srgbClr val="555555"/>
                </a:solidFill>
              </a:defRPr>
            </a:pPr>
            <a:r>
              <a:rPr sz="2200" dirty="0"/>
              <a:t>‒  when the perception node flags an obstacle and the control node confirms it's parked</a:t>
            </a:r>
          </a:p>
          <a:p>
            <a:pPr>
              <a:spcAft>
                <a:spcPts val="400"/>
              </a:spcAft>
              <a:defRPr sz="1900">
                <a:solidFill>
                  <a:srgbClr val="555555"/>
                </a:solidFill>
              </a:defRPr>
            </a:pPr>
            <a:r>
              <a:rPr sz="2200" dirty="0"/>
              <a:t>→ smoothly reroutes </a:t>
            </a:r>
            <a:r>
              <a:rPr lang="en-US" sz="2200" dirty="0"/>
              <a:t>a path segment </a:t>
            </a:r>
            <a:r>
              <a:rPr sz="2200" dirty="0"/>
              <a:t>around it, then returns</a:t>
            </a:r>
          </a:p>
          <a:p>
            <a:pPr>
              <a:spcAft>
                <a:spcPts val="400"/>
              </a:spcAft>
              <a:defRPr sz="1900">
                <a:solidFill>
                  <a:srgbClr val="555555"/>
                </a:solidFill>
              </a:defRPr>
            </a:pPr>
            <a:r>
              <a:rPr sz="2200" dirty="0"/>
              <a:t>‒  continuously picks the next checkpoint to aim for</a:t>
            </a:r>
          </a:p>
        </p:txBody>
      </p:sp>
      <p:grpSp>
        <p:nvGrpSpPr>
          <p:cNvPr id="17" name="群組 16">
            <a:extLst>
              <a:ext uri="{FF2B5EF4-FFF2-40B4-BE49-F238E27FC236}">
                <a16:creationId xmlns:a16="http://schemas.microsoft.com/office/drawing/2014/main" id="{40D7300F-400F-91B0-47A1-E5E6E23F4B4E}"/>
              </a:ext>
            </a:extLst>
          </p:cNvPr>
          <p:cNvGrpSpPr/>
          <p:nvPr/>
        </p:nvGrpSpPr>
        <p:grpSpPr>
          <a:xfrm>
            <a:off x="4063847" y="4463742"/>
            <a:ext cx="4064000" cy="2095500"/>
            <a:chOff x="457200" y="4204484"/>
            <a:chExt cx="4064000" cy="2095500"/>
          </a:xfrm>
        </p:grpSpPr>
        <p:pic>
          <p:nvPicPr>
            <p:cNvPr id="9" name="圖片 8">
              <a:extLst>
                <a:ext uri="{FF2B5EF4-FFF2-40B4-BE49-F238E27FC236}">
                  <a16:creationId xmlns:a16="http://schemas.microsoft.com/office/drawing/2014/main" id="{D3455F4D-FC9E-F312-9C54-AABE634CD7F0}"/>
                </a:ext>
              </a:extLst>
            </p:cNvPr>
            <p:cNvPicPr>
              <a:picLocks noChangeAspect="1"/>
            </p:cNvPicPr>
            <p:nvPr/>
          </p:nvPicPr>
          <p:blipFill>
            <a:blip r:embed="rId3"/>
            <a:stretch>
              <a:fillRect/>
            </a:stretch>
          </p:blipFill>
          <p:spPr>
            <a:xfrm>
              <a:off x="457200" y="4204484"/>
              <a:ext cx="4064000" cy="2095500"/>
            </a:xfrm>
            <a:prstGeom prst="rect">
              <a:avLst/>
            </a:prstGeom>
          </p:spPr>
        </p:pic>
        <p:cxnSp>
          <p:nvCxnSpPr>
            <p:cNvPr id="11" name="曲線接點 10">
              <a:extLst>
                <a:ext uri="{FF2B5EF4-FFF2-40B4-BE49-F238E27FC236}">
                  <a16:creationId xmlns:a16="http://schemas.microsoft.com/office/drawing/2014/main" id="{5BBAA55B-6EFB-CC71-13BD-D1727C52C7B6}"/>
                </a:ext>
              </a:extLst>
            </p:cNvPr>
            <p:cNvCxnSpPr>
              <a:cxnSpLocks/>
            </p:cNvCxnSpPr>
            <p:nvPr/>
          </p:nvCxnSpPr>
          <p:spPr>
            <a:xfrm rot="5400000" flipH="1" flipV="1">
              <a:off x="2844230" y="4880567"/>
              <a:ext cx="401266" cy="342070"/>
            </a:xfrm>
            <a:prstGeom prst="curvedConnector3">
              <a:avLst/>
            </a:prstGeom>
            <a:ln w="19050">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14" name="直線箭頭接點 13">
              <a:extLst>
                <a:ext uri="{FF2B5EF4-FFF2-40B4-BE49-F238E27FC236}">
                  <a16:creationId xmlns:a16="http://schemas.microsoft.com/office/drawing/2014/main" id="{30E7006D-2DBF-3616-BB0B-12CD9552A99C}"/>
                </a:ext>
              </a:extLst>
            </p:cNvPr>
            <p:cNvCxnSpPr/>
            <p:nvPr/>
          </p:nvCxnSpPr>
          <p:spPr>
            <a:xfrm flipV="1">
              <a:off x="2490922" y="4850969"/>
              <a:ext cx="0" cy="271221"/>
            </a:xfrm>
            <a:prstGeom prst="straightConnector1">
              <a:avLst/>
            </a:prstGeom>
            <a:ln>
              <a:solidFill>
                <a:srgbClr val="00B0F0"/>
              </a:solidFill>
              <a:tailEnd type="triangle"/>
            </a:ln>
          </p:spPr>
          <p:style>
            <a:lnRef idx="2">
              <a:schemeClr val="accent1"/>
            </a:lnRef>
            <a:fillRef idx="0">
              <a:schemeClr val="accent1"/>
            </a:fillRef>
            <a:effectRef idx="1">
              <a:schemeClr val="accent1"/>
            </a:effectRef>
            <a:fontRef idx="minor">
              <a:schemeClr val="tx1"/>
            </a:fontRef>
          </p:style>
        </p:cxnSp>
        <p:sp>
          <p:nvSpPr>
            <p:cNvPr id="15" name="文字方塊 14">
              <a:extLst>
                <a:ext uri="{FF2B5EF4-FFF2-40B4-BE49-F238E27FC236}">
                  <a16:creationId xmlns:a16="http://schemas.microsoft.com/office/drawing/2014/main" id="{49980153-64BF-17BD-17BD-8D82CA5741F8}"/>
                </a:ext>
              </a:extLst>
            </p:cNvPr>
            <p:cNvSpPr txBox="1"/>
            <p:nvPr/>
          </p:nvSpPr>
          <p:spPr>
            <a:xfrm>
              <a:off x="1340603" y="4850969"/>
              <a:ext cx="1073820" cy="276999"/>
            </a:xfrm>
            <a:prstGeom prst="rect">
              <a:avLst/>
            </a:prstGeom>
            <a:noFill/>
          </p:spPr>
          <p:txBody>
            <a:bodyPr wrap="none" rtlCol="0">
              <a:spAutoFit/>
            </a:bodyPr>
            <a:lstStyle/>
            <a:p>
              <a:r>
                <a:rPr kumimoji="1" lang="en-US" altLang="zh-TW" sz="1200" b="1" dirty="0">
                  <a:solidFill>
                    <a:srgbClr val="00B0F0"/>
                  </a:solidFill>
                </a:rPr>
                <a:t>Original route</a:t>
              </a:r>
              <a:endParaRPr kumimoji="1" lang="zh-TW" altLang="en-US" sz="1200" b="1" dirty="0">
                <a:solidFill>
                  <a:srgbClr val="00B0F0"/>
                </a:solidFill>
              </a:endParaRPr>
            </a:p>
          </p:txBody>
        </p:sp>
        <p:sp>
          <p:nvSpPr>
            <p:cNvPr id="16" name="文字方塊 15">
              <a:extLst>
                <a:ext uri="{FF2B5EF4-FFF2-40B4-BE49-F238E27FC236}">
                  <a16:creationId xmlns:a16="http://schemas.microsoft.com/office/drawing/2014/main" id="{933CA84A-7A7A-F8CB-D713-71EA8A503EF4}"/>
                </a:ext>
              </a:extLst>
            </p:cNvPr>
            <p:cNvSpPr txBox="1"/>
            <p:nvPr/>
          </p:nvSpPr>
          <p:spPr>
            <a:xfrm>
              <a:off x="3044863" y="5021401"/>
              <a:ext cx="757900" cy="461665"/>
            </a:xfrm>
            <a:prstGeom prst="rect">
              <a:avLst/>
            </a:prstGeom>
            <a:noFill/>
          </p:spPr>
          <p:txBody>
            <a:bodyPr wrap="none" rtlCol="0">
              <a:spAutoFit/>
            </a:bodyPr>
            <a:lstStyle/>
            <a:p>
              <a:pPr algn="ctr"/>
              <a:r>
                <a:rPr kumimoji="1" lang="en-US" altLang="zh-TW" sz="1200" b="1" dirty="0">
                  <a:solidFill>
                    <a:srgbClr val="FF0000"/>
                  </a:solidFill>
                </a:rPr>
                <a:t>Detour </a:t>
              </a:r>
            </a:p>
            <a:p>
              <a:pPr algn="ctr"/>
              <a:r>
                <a:rPr kumimoji="1" lang="en-US" altLang="zh-TW" sz="1200" b="1" dirty="0">
                  <a:solidFill>
                    <a:srgbClr val="FF0000"/>
                  </a:solidFill>
                </a:rPr>
                <a:t>(reroute)</a:t>
              </a:r>
              <a:endParaRPr kumimoji="1" lang="zh-TW" altLang="en-US" sz="1200" b="1" dirty="0">
                <a:solidFill>
                  <a:srgbClr val="FF0000"/>
                </a:solidFill>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11277295" cy="615553"/>
          </a:xfrm>
          <a:prstGeom prst="rect">
            <a:avLst/>
          </a:prstGeom>
          <a:noFill/>
        </p:spPr>
        <p:txBody>
          <a:bodyPr wrap="square">
            <a:spAutoFit/>
          </a:bodyPr>
          <a:lstStyle/>
          <a:p>
            <a:pPr>
              <a:defRPr sz="3400" b="1">
                <a:solidFill>
                  <a:srgbClr val="1B2A4A"/>
                </a:solidFill>
              </a:defRPr>
            </a:pPr>
            <a:r>
              <a:rPr dirty="0"/>
              <a:t>Perception — Sensing the World</a:t>
            </a:r>
            <a:r>
              <a:rPr lang="zh-TW" altLang="en-US" dirty="0"/>
              <a:t> </a:t>
            </a:r>
            <a:r>
              <a:rPr lang="en-US" altLang="zh-TW" sz="2800" dirty="0"/>
              <a:t>(Yan </a:t>
            </a:r>
            <a:r>
              <a:rPr lang="en-US" altLang="zh-TW" sz="2800" dirty="0" err="1"/>
              <a:t>Zeyun</a:t>
            </a:r>
            <a:r>
              <a:rPr lang="en-US" altLang="zh-TW" sz="2800" dirty="0"/>
              <a:t>)</a:t>
            </a:r>
            <a:r>
              <a:rPr lang="zh-TW" altLang="en-US" sz="2800" dirty="0"/>
              <a:t> </a:t>
            </a:r>
            <a:endParaRPr sz="2800" dirty="0"/>
          </a:p>
        </p:txBody>
      </p:sp>
      <p:sp>
        <p:nvSpPr>
          <p:cNvPr id="3" name="Rectangle 2"/>
          <p:cNvSpPr/>
          <p:nvPr/>
        </p:nvSpPr>
        <p:spPr>
          <a:xfrm>
            <a:off x="457200" y="1005840"/>
            <a:ext cx="11277295" cy="31750"/>
          </a:xfrm>
          <a:prstGeom prst="rect">
            <a:avLst/>
          </a:prstGeom>
          <a:solidFill>
            <a:srgbClr val="2E6F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143000"/>
            <a:ext cx="11277295" cy="2580194"/>
          </a:xfrm>
          <a:prstGeom prst="rect">
            <a:avLst/>
          </a:prstGeom>
          <a:noFill/>
        </p:spPr>
        <p:txBody>
          <a:bodyPr wrap="square">
            <a:spAutoFit/>
          </a:bodyPr>
          <a:lstStyle/>
          <a:p>
            <a:pPr>
              <a:spcAft>
                <a:spcPts val="800"/>
              </a:spcAft>
              <a:defRPr sz="2300">
                <a:solidFill>
                  <a:srgbClr val="222222"/>
                </a:solidFill>
              </a:defRPr>
            </a:pPr>
            <a:r>
              <a:rPr dirty="0"/>
              <a:t>•  Feeds real-time awareness to both planning and control</a:t>
            </a:r>
          </a:p>
          <a:p>
            <a:pPr>
              <a:spcAft>
                <a:spcPts val="800"/>
              </a:spcAft>
              <a:defRPr sz="2300">
                <a:solidFill>
                  <a:srgbClr val="222222"/>
                </a:solidFill>
              </a:defRPr>
            </a:pPr>
            <a:r>
              <a:rPr dirty="0"/>
              <a:t>•  Obstacle detection: depth camera builds a 3D view of the road ahead</a:t>
            </a:r>
          </a:p>
          <a:p>
            <a:pPr>
              <a:spcAft>
                <a:spcPts val="400"/>
              </a:spcAft>
              <a:defRPr sz="1900">
                <a:solidFill>
                  <a:srgbClr val="555555"/>
                </a:solidFill>
              </a:defRPr>
            </a:pPr>
            <a:r>
              <a:rPr sz="2200" dirty="0"/>
              <a:t>‒  tracks distance to the nearest obstacle, in the driving lane and to the sides</a:t>
            </a:r>
          </a:p>
          <a:p>
            <a:pPr>
              <a:spcAft>
                <a:spcPts val="400"/>
              </a:spcAft>
              <a:defRPr sz="1900">
                <a:solidFill>
                  <a:srgbClr val="555555"/>
                </a:solidFill>
              </a:defRPr>
            </a:pPr>
            <a:r>
              <a:rPr sz="2200" dirty="0"/>
              <a:t>‒  ignores ground-level noise, only counts real obstacles</a:t>
            </a:r>
          </a:p>
          <a:p>
            <a:pPr>
              <a:spcAft>
                <a:spcPts val="800"/>
              </a:spcAft>
              <a:defRPr sz="2300">
                <a:solidFill>
                  <a:srgbClr val="222222"/>
                </a:solidFill>
              </a:defRPr>
            </a:pPr>
            <a:r>
              <a:rPr dirty="0"/>
              <a:t>•  Traffic-light detection: RGB camera tells red from gree</a:t>
            </a:r>
            <a:r>
              <a:rPr lang="en-US" dirty="0"/>
              <a:t>n</a:t>
            </a:r>
            <a:endParaRPr dirty="0"/>
          </a:p>
          <a:p>
            <a:pPr>
              <a:spcAft>
                <a:spcPts val="400"/>
              </a:spcAft>
              <a:defRPr sz="1900">
                <a:solidFill>
                  <a:srgbClr val="555555"/>
                </a:solidFill>
              </a:defRPr>
            </a:pPr>
            <a:r>
              <a:rPr sz="2200" dirty="0"/>
              <a:t>‒  Deliberately never uses the labeled (semantic) camera</a:t>
            </a:r>
            <a:endParaRPr lang="en-US" sz="2200" dirty="0"/>
          </a:p>
        </p:txBody>
      </p:sp>
      <p:pic>
        <p:nvPicPr>
          <p:cNvPr id="7" name="圖片 6">
            <a:extLst>
              <a:ext uri="{FF2B5EF4-FFF2-40B4-BE49-F238E27FC236}">
                <a16:creationId xmlns:a16="http://schemas.microsoft.com/office/drawing/2014/main" id="{D0D8239D-CEFD-7A0B-3976-CAFC66198316}"/>
              </a:ext>
            </a:extLst>
          </p:cNvPr>
          <p:cNvPicPr>
            <a:picLocks noChangeAspect="1"/>
          </p:cNvPicPr>
          <p:nvPr/>
        </p:nvPicPr>
        <p:blipFill>
          <a:blip r:embed="rId3"/>
          <a:stretch>
            <a:fillRect/>
          </a:stretch>
        </p:blipFill>
        <p:spPr>
          <a:xfrm>
            <a:off x="2114833" y="3837661"/>
            <a:ext cx="1599330" cy="2746019"/>
          </a:xfrm>
          <a:prstGeom prst="rect">
            <a:avLst/>
          </a:prstGeom>
        </p:spPr>
      </p:pic>
      <p:grpSp>
        <p:nvGrpSpPr>
          <p:cNvPr id="12" name="群組 11">
            <a:extLst>
              <a:ext uri="{FF2B5EF4-FFF2-40B4-BE49-F238E27FC236}">
                <a16:creationId xmlns:a16="http://schemas.microsoft.com/office/drawing/2014/main" id="{44047913-EB62-5922-A262-357699C158CC}"/>
              </a:ext>
            </a:extLst>
          </p:cNvPr>
          <p:cNvGrpSpPr/>
          <p:nvPr/>
        </p:nvGrpSpPr>
        <p:grpSpPr>
          <a:xfrm>
            <a:off x="390383" y="4692180"/>
            <a:ext cx="1657633" cy="323165"/>
            <a:chOff x="390383" y="4692180"/>
            <a:chExt cx="1657633" cy="323165"/>
          </a:xfrm>
        </p:grpSpPr>
        <p:cxnSp>
          <p:nvCxnSpPr>
            <p:cNvPr id="10" name="直線箭頭接點 9">
              <a:extLst>
                <a:ext uri="{FF2B5EF4-FFF2-40B4-BE49-F238E27FC236}">
                  <a16:creationId xmlns:a16="http://schemas.microsoft.com/office/drawing/2014/main" id="{008B38BE-F28F-8C1F-D1AD-7D151C72B592}"/>
                </a:ext>
              </a:extLst>
            </p:cNvPr>
            <p:cNvCxnSpPr/>
            <p:nvPr/>
          </p:nvCxnSpPr>
          <p:spPr>
            <a:xfrm>
              <a:off x="457200" y="5015345"/>
              <a:ext cx="152400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1" name="文字方塊 10">
              <a:extLst>
                <a:ext uri="{FF2B5EF4-FFF2-40B4-BE49-F238E27FC236}">
                  <a16:creationId xmlns:a16="http://schemas.microsoft.com/office/drawing/2014/main" id="{1F7FBBE4-62B7-5D0B-C5D3-7AE8FDB13A90}"/>
                </a:ext>
              </a:extLst>
            </p:cNvPr>
            <p:cNvSpPr txBox="1"/>
            <p:nvPr/>
          </p:nvSpPr>
          <p:spPr>
            <a:xfrm>
              <a:off x="390383" y="4692180"/>
              <a:ext cx="1657633" cy="323165"/>
            </a:xfrm>
            <a:prstGeom prst="rect">
              <a:avLst/>
            </a:prstGeom>
            <a:noFill/>
          </p:spPr>
          <p:txBody>
            <a:bodyPr wrap="none" rtlCol="0">
              <a:spAutoFit/>
            </a:bodyPr>
            <a:lstStyle/>
            <a:p>
              <a:r>
                <a:rPr kumimoji="1" lang="en-US" altLang="zh-TW" sz="1500" dirty="0"/>
                <a:t>RGB </a:t>
              </a:r>
              <a:r>
                <a:rPr kumimoji="1" lang="en-US" altLang="zh-TW" sz="1200" dirty="0">
                  <a:sym typeface="Wingdings" pitchFamily="2" charset="2"/>
                </a:rPr>
                <a:t></a:t>
              </a:r>
              <a:r>
                <a:rPr kumimoji="1" lang="en-US" altLang="zh-TW" sz="1500" dirty="0">
                  <a:sym typeface="Wingdings" pitchFamily="2" charset="2"/>
                </a:rPr>
                <a:t> Color mask</a:t>
              </a:r>
              <a:endParaRPr kumimoji="1" lang="zh-TW" altLang="en-US" sz="1500" dirty="0"/>
            </a:p>
          </p:txBody>
        </p:sp>
      </p:grpSp>
      <p:sp>
        <p:nvSpPr>
          <p:cNvPr id="13" name="文字方塊 12">
            <a:extLst>
              <a:ext uri="{FF2B5EF4-FFF2-40B4-BE49-F238E27FC236}">
                <a16:creationId xmlns:a16="http://schemas.microsoft.com/office/drawing/2014/main" id="{69365F9E-49F4-2EAC-27B6-3B48E574E486}"/>
              </a:ext>
            </a:extLst>
          </p:cNvPr>
          <p:cNvSpPr txBox="1"/>
          <p:nvPr/>
        </p:nvSpPr>
        <p:spPr>
          <a:xfrm>
            <a:off x="1523977" y="4239491"/>
            <a:ext cx="549959" cy="369332"/>
          </a:xfrm>
          <a:prstGeom prst="rect">
            <a:avLst/>
          </a:prstGeom>
          <a:noFill/>
        </p:spPr>
        <p:txBody>
          <a:bodyPr wrap="none" rtlCol="0">
            <a:spAutoFit/>
          </a:bodyPr>
          <a:lstStyle/>
          <a:p>
            <a:r>
              <a:rPr kumimoji="1" lang="en-US" altLang="zh-TW" b="1" dirty="0">
                <a:solidFill>
                  <a:srgbClr val="FF0000"/>
                </a:solidFill>
              </a:rPr>
              <a:t>Red</a:t>
            </a:r>
            <a:endParaRPr kumimoji="1" lang="zh-TW" altLang="en-US" b="1" dirty="0">
              <a:solidFill>
                <a:srgbClr val="FF0000"/>
              </a:solidFill>
            </a:endParaRPr>
          </a:p>
        </p:txBody>
      </p:sp>
      <p:sp>
        <p:nvSpPr>
          <p:cNvPr id="14" name="文字方塊 13">
            <a:extLst>
              <a:ext uri="{FF2B5EF4-FFF2-40B4-BE49-F238E27FC236}">
                <a16:creationId xmlns:a16="http://schemas.microsoft.com/office/drawing/2014/main" id="{351F84FE-0658-238A-82C0-1DC18688856A}"/>
              </a:ext>
            </a:extLst>
          </p:cNvPr>
          <p:cNvSpPr txBox="1"/>
          <p:nvPr/>
        </p:nvSpPr>
        <p:spPr>
          <a:xfrm>
            <a:off x="1354497" y="5769613"/>
            <a:ext cx="760336" cy="369332"/>
          </a:xfrm>
          <a:prstGeom prst="rect">
            <a:avLst/>
          </a:prstGeom>
          <a:noFill/>
        </p:spPr>
        <p:txBody>
          <a:bodyPr wrap="none" rtlCol="0">
            <a:spAutoFit/>
          </a:bodyPr>
          <a:lstStyle/>
          <a:p>
            <a:r>
              <a:rPr kumimoji="1" lang="en-US" altLang="zh-TW" b="1" dirty="0">
                <a:solidFill>
                  <a:srgbClr val="00B050"/>
                </a:solidFill>
              </a:rPr>
              <a:t>Green</a:t>
            </a:r>
            <a:endParaRPr kumimoji="1" lang="zh-TW" altLang="en-US" b="1" dirty="0">
              <a:solidFill>
                <a:srgbClr val="00B050"/>
              </a:solidFill>
            </a:endParaRPr>
          </a:p>
        </p:txBody>
      </p:sp>
      <p:grpSp>
        <p:nvGrpSpPr>
          <p:cNvPr id="22" name="群組 21">
            <a:extLst>
              <a:ext uri="{FF2B5EF4-FFF2-40B4-BE49-F238E27FC236}">
                <a16:creationId xmlns:a16="http://schemas.microsoft.com/office/drawing/2014/main" id="{0C52F333-7DB3-2AC6-55A8-6E14A52A984E}"/>
              </a:ext>
            </a:extLst>
          </p:cNvPr>
          <p:cNvGrpSpPr/>
          <p:nvPr/>
        </p:nvGrpSpPr>
        <p:grpSpPr>
          <a:xfrm>
            <a:off x="5495143" y="3798337"/>
            <a:ext cx="1597375" cy="2785343"/>
            <a:chOff x="6257171" y="3798337"/>
            <a:chExt cx="1597375" cy="2785343"/>
          </a:xfrm>
        </p:grpSpPr>
        <p:pic>
          <p:nvPicPr>
            <p:cNvPr id="16" name="圖片 15">
              <a:extLst>
                <a:ext uri="{FF2B5EF4-FFF2-40B4-BE49-F238E27FC236}">
                  <a16:creationId xmlns:a16="http://schemas.microsoft.com/office/drawing/2014/main" id="{3032EF2F-9BE0-26DB-6DA6-321280B41140}"/>
                </a:ext>
              </a:extLst>
            </p:cNvPr>
            <p:cNvPicPr>
              <a:picLocks noChangeAspect="1"/>
            </p:cNvPicPr>
            <p:nvPr/>
          </p:nvPicPr>
          <p:blipFill>
            <a:blip r:embed="rId4"/>
            <a:stretch>
              <a:fillRect/>
            </a:stretch>
          </p:blipFill>
          <p:spPr>
            <a:xfrm>
              <a:off x="6257171" y="3798337"/>
              <a:ext cx="1597375" cy="1258801"/>
            </a:xfrm>
            <a:prstGeom prst="rect">
              <a:avLst/>
            </a:prstGeom>
          </p:spPr>
        </p:pic>
        <p:pic>
          <p:nvPicPr>
            <p:cNvPr id="18" name="圖片 17">
              <a:extLst>
                <a:ext uri="{FF2B5EF4-FFF2-40B4-BE49-F238E27FC236}">
                  <a16:creationId xmlns:a16="http://schemas.microsoft.com/office/drawing/2014/main" id="{EA610706-B5C4-7389-65BF-61B40DA32E9A}"/>
                </a:ext>
              </a:extLst>
            </p:cNvPr>
            <p:cNvPicPr>
              <a:picLocks noChangeAspect="1"/>
            </p:cNvPicPr>
            <p:nvPr/>
          </p:nvPicPr>
          <p:blipFill>
            <a:blip r:embed="rId5"/>
            <a:stretch>
              <a:fillRect/>
            </a:stretch>
          </p:blipFill>
          <p:spPr>
            <a:xfrm>
              <a:off x="6257171" y="5324879"/>
              <a:ext cx="1597375" cy="1258801"/>
            </a:xfrm>
            <a:prstGeom prst="rect">
              <a:avLst/>
            </a:prstGeom>
          </p:spPr>
        </p:pic>
      </p:grpSp>
      <p:grpSp>
        <p:nvGrpSpPr>
          <p:cNvPr id="28" name="群組 27">
            <a:extLst>
              <a:ext uri="{FF2B5EF4-FFF2-40B4-BE49-F238E27FC236}">
                <a16:creationId xmlns:a16="http://schemas.microsoft.com/office/drawing/2014/main" id="{87F335FF-5BA1-B36F-A402-4715BB2D9D5B}"/>
              </a:ext>
            </a:extLst>
          </p:cNvPr>
          <p:cNvGrpSpPr/>
          <p:nvPr/>
        </p:nvGrpSpPr>
        <p:grpSpPr>
          <a:xfrm>
            <a:off x="3714163" y="4715378"/>
            <a:ext cx="1604863" cy="664925"/>
            <a:chOff x="3714163" y="4715378"/>
            <a:chExt cx="1604863" cy="664925"/>
          </a:xfrm>
        </p:grpSpPr>
        <p:grpSp>
          <p:nvGrpSpPr>
            <p:cNvPr id="19" name="群組 18">
              <a:extLst>
                <a:ext uri="{FF2B5EF4-FFF2-40B4-BE49-F238E27FC236}">
                  <a16:creationId xmlns:a16="http://schemas.microsoft.com/office/drawing/2014/main" id="{7376B486-6C05-B90B-8636-690D3C98C4DE}"/>
                </a:ext>
              </a:extLst>
            </p:cNvPr>
            <p:cNvGrpSpPr/>
            <p:nvPr/>
          </p:nvGrpSpPr>
          <p:grpSpPr>
            <a:xfrm>
              <a:off x="3714163" y="4715378"/>
              <a:ext cx="1604863" cy="323165"/>
              <a:chOff x="390383" y="4692180"/>
              <a:chExt cx="1604863" cy="323165"/>
            </a:xfrm>
          </p:grpSpPr>
          <p:cxnSp>
            <p:nvCxnSpPr>
              <p:cNvPr id="20" name="直線箭頭接點 19">
                <a:extLst>
                  <a:ext uri="{FF2B5EF4-FFF2-40B4-BE49-F238E27FC236}">
                    <a16:creationId xmlns:a16="http://schemas.microsoft.com/office/drawing/2014/main" id="{30C4FC3C-E752-8DAD-FE68-6E50735772CD}"/>
                  </a:ext>
                </a:extLst>
              </p:cNvPr>
              <p:cNvCxnSpPr/>
              <p:nvPr/>
            </p:nvCxnSpPr>
            <p:spPr>
              <a:xfrm>
                <a:off x="457200" y="5015345"/>
                <a:ext cx="152400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1" name="文字方塊 20">
                <a:extLst>
                  <a:ext uri="{FF2B5EF4-FFF2-40B4-BE49-F238E27FC236}">
                    <a16:creationId xmlns:a16="http://schemas.microsoft.com/office/drawing/2014/main" id="{520022FA-6D61-3A76-2368-B19D881F326C}"/>
                  </a:ext>
                </a:extLst>
              </p:cNvPr>
              <p:cNvSpPr txBox="1"/>
              <p:nvPr/>
            </p:nvSpPr>
            <p:spPr>
              <a:xfrm>
                <a:off x="390383" y="4692180"/>
                <a:ext cx="1604863" cy="323165"/>
              </a:xfrm>
              <a:prstGeom prst="rect">
                <a:avLst/>
              </a:prstGeom>
              <a:noFill/>
            </p:spPr>
            <p:txBody>
              <a:bodyPr wrap="none" rtlCol="0">
                <a:spAutoFit/>
              </a:bodyPr>
              <a:lstStyle/>
              <a:p>
                <a:r>
                  <a:rPr kumimoji="1" lang="en-US" altLang="zh-TW" sz="1500" dirty="0"/>
                  <a:t>Component group</a:t>
                </a:r>
                <a:endParaRPr kumimoji="1" lang="zh-TW" altLang="en-US" sz="1500" dirty="0"/>
              </a:p>
            </p:txBody>
          </p:sp>
        </p:grpSp>
        <p:sp>
          <p:nvSpPr>
            <p:cNvPr id="27" name="文字方塊 26">
              <a:extLst>
                <a:ext uri="{FF2B5EF4-FFF2-40B4-BE49-F238E27FC236}">
                  <a16:creationId xmlns:a16="http://schemas.microsoft.com/office/drawing/2014/main" id="{A1731E01-0CDF-40C0-BBC8-FC9CC8489E74}"/>
                </a:ext>
              </a:extLst>
            </p:cNvPr>
            <p:cNvSpPr txBox="1"/>
            <p:nvPr/>
          </p:nvSpPr>
          <p:spPr>
            <a:xfrm>
              <a:off x="4050697" y="5057138"/>
              <a:ext cx="931794" cy="323165"/>
            </a:xfrm>
            <a:prstGeom prst="rect">
              <a:avLst/>
            </a:prstGeom>
            <a:noFill/>
          </p:spPr>
          <p:txBody>
            <a:bodyPr wrap="none" rtlCol="0">
              <a:spAutoFit/>
            </a:bodyPr>
            <a:lstStyle/>
            <a:p>
              <a:r>
                <a:rPr kumimoji="1" lang="en-US" altLang="zh-TW" sz="1500" dirty="0"/>
                <a:t>detection</a:t>
              </a:r>
              <a:endParaRPr kumimoji="1" lang="zh-TW" altLang="en-US" sz="1500" dirty="0"/>
            </a:p>
          </p:txBody>
        </p:sp>
      </p:grpSp>
      <p:grpSp>
        <p:nvGrpSpPr>
          <p:cNvPr id="33" name="群組 32">
            <a:extLst>
              <a:ext uri="{FF2B5EF4-FFF2-40B4-BE49-F238E27FC236}">
                <a16:creationId xmlns:a16="http://schemas.microsoft.com/office/drawing/2014/main" id="{D5011053-C3B4-0F7F-69E7-4475959D4ED1}"/>
              </a:ext>
            </a:extLst>
          </p:cNvPr>
          <p:cNvGrpSpPr/>
          <p:nvPr/>
        </p:nvGrpSpPr>
        <p:grpSpPr>
          <a:xfrm>
            <a:off x="7209511" y="4724675"/>
            <a:ext cx="1221809" cy="664925"/>
            <a:chOff x="3747458" y="4715378"/>
            <a:chExt cx="1221809" cy="664925"/>
          </a:xfrm>
        </p:grpSpPr>
        <p:grpSp>
          <p:nvGrpSpPr>
            <p:cNvPr id="34" name="群組 33">
              <a:extLst>
                <a:ext uri="{FF2B5EF4-FFF2-40B4-BE49-F238E27FC236}">
                  <a16:creationId xmlns:a16="http://schemas.microsoft.com/office/drawing/2014/main" id="{3447286A-339C-B2F9-71F6-AEAAAEF22B4B}"/>
                </a:ext>
              </a:extLst>
            </p:cNvPr>
            <p:cNvGrpSpPr/>
            <p:nvPr/>
          </p:nvGrpSpPr>
          <p:grpSpPr>
            <a:xfrm>
              <a:off x="3747458" y="4715378"/>
              <a:ext cx="1221809" cy="323165"/>
              <a:chOff x="423678" y="4692180"/>
              <a:chExt cx="1221809" cy="323165"/>
            </a:xfrm>
          </p:grpSpPr>
          <p:cxnSp>
            <p:nvCxnSpPr>
              <p:cNvPr id="36" name="直線箭頭接點 35">
                <a:extLst>
                  <a:ext uri="{FF2B5EF4-FFF2-40B4-BE49-F238E27FC236}">
                    <a16:creationId xmlns:a16="http://schemas.microsoft.com/office/drawing/2014/main" id="{4D8CA15B-EB3D-5D24-5867-6AB3F483398E}"/>
                  </a:ext>
                </a:extLst>
              </p:cNvPr>
              <p:cNvCxnSpPr>
                <a:cxnSpLocks/>
              </p:cNvCxnSpPr>
              <p:nvPr/>
            </p:nvCxnSpPr>
            <p:spPr>
              <a:xfrm>
                <a:off x="423792" y="5015345"/>
                <a:ext cx="1221581"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7" name="文字方塊 36">
                <a:extLst>
                  <a:ext uri="{FF2B5EF4-FFF2-40B4-BE49-F238E27FC236}">
                    <a16:creationId xmlns:a16="http://schemas.microsoft.com/office/drawing/2014/main" id="{2A178C13-1758-C502-C7D3-B0D7BC8CA62D}"/>
                  </a:ext>
                </a:extLst>
              </p:cNvPr>
              <p:cNvSpPr txBox="1"/>
              <p:nvPr/>
            </p:nvSpPr>
            <p:spPr>
              <a:xfrm>
                <a:off x="423678" y="4692180"/>
                <a:ext cx="1221809" cy="323165"/>
              </a:xfrm>
              <a:prstGeom prst="rect">
                <a:avLst/>
              </a:prstGeom>
              <a:noFill/>
            </p:spPr>
            <p:txBody>
              <a:bodyPr wrap="none" rtlCol="0">
                <a:spAutoFit/>
              </a:bodyPr>
              <a:lstStyle/>
              <a:p>
                <a:r>
                  <a:rPr kumimoji="1" lang="en-US" altLang="zh-TW" sz="1500" dirty="0"/>
                  <a:t>Select largest</a:t>
                </a:r>
                <a:endParaRPr kumimoji="1" lang="zh-TW" altLang="en-US" sz="1500" dirty="0"/>
              </a:p>
            </p:txBody>
          </p:sp>
        </p:grpSp>
        <p:sp>
          <p:nvSpPr>
            <p:cNvPr id="35" name="文字方塊 34">
              <a:extLst>
                <a:ext uri="{FF2B5EF4-FFF2-40B4-BE49-F238E27FC236}">
                  <a16:creationId xmlns:a16="http://schemas.microsoft.com/office/drawing/2014/main" id="{9B41FF50-725B-86F3-0282-F00CFC4AA71A}"/>
                </a:ext>
              </a:extLst>
            </p:cNvPr>
            <p:cNvSpPr txBox="1"/>
            <p:nvPr/>
          </p:nvSpPr>
          <p:spPr>
            <a:xfrm>
              <a:off x="3882430" y="5057138"/>
              <a:ext cx="951864" cy="323165"/>
            </a:xfrm>
            <a:prstGeom prst="rect">
              <a:avLst/>
            </a:prstGeom>
            <a:noFill/>
          </p:spPr>
          <p:txBody>
            <a:bodyPr wrap="none" rtlCol="0">
              <a:spAutoFit/>
            </a:bodyPr>
            <a:lstStyle/>
            <a:p>
              <a:r>
                <a:rPr kumimoji="1" lang="en-US" altLang="zh-TW" sz="1500" dirty="0"/>
                <a:t>candidate</a:t>
              </a:r>
              <a:endParaRPr kumimoji="1" lang="zh-TW" altLang="en-US" sz="1500" dirty="0"/>
            </a:p>
          </p:txBody>
        </p:sp>
      </p:grpSp>
      <p:grpSp>
        <p:nvGrpSpPr>
          <p:cNvPr id="43" name="群組 42">
            <a:extLst>
              <a:ext uri="{FF2B5EF4-FFF2-40B4-BE49-F238E27FC236}">
                <a16:creationId xmlns:a16="http://schemas.microsoft.com/office/drawing/2014/main" id="{0AEC10C1-20B3-8323-B995-36E98C3D8F12}"/>
              </a:ext>
            </a:extLst>
          </p:cNvPr>
          <p:cNvGrpSpPr/>
          <p:nvPr/>
        </p:nvGrpSpPr>
        <p:grpSpPr>
          <a:xfrm>
            <a:off x="8714424" y="3719980"/>
            <a:ext cx="1801006" cy="2860486"/>
            <a:chOff x="8798631" y="3723194"/>
            <a:chExt cx="1801006" cy="2860486"/>
          </a:xfrm>
        </p:grpSpPr>
        <p:pic>
          <p:nvPicPr>
            <p:cNvPr id="40" name="圖片 39">
              <a:extLst>
                <a:ext uri="{FF2B5EF4-FFF2-40B4-BE49-F238E27FC236}">
                  <a16:creationId xmlns:a16="http://schemas.microsoft.com/office/drawing/2014/main" id="{959FB815-19BD-EE40-161E-2894A063B0F7}"/>
                </a:ext>
              </a:extLst>
            </p:cNvPr>
            <p:cNvPicPr>
              <a:picLocks noChangeAspect="1"/>
            </p:cNvPicPr>
            <p:nvPr/>
          </p:nvPicPr>
          <p:blipFill>
            <a:blip r:embed="rId6"/>
            <a:stretch>
              <a:fillRect/>
            </a:stretch>
          </p:blipFill>
          <p:spPr>
            <a:xfrm>
              <a:off x="8798631" y="5202227"/>
              <a:ext cx="1801006" cy="1381453"/>
            </a:xfrm>
            <a:prstGeom prst="rect">
              <a:avLst/>
            </a:prstGeom>
          </p:spPr>
        </p:pic>
        <p:pic>
          <p:nvPicPr>
            <p:cNvPr id="42" name="圖片 41">
              <a:extLst>
                <a:ext uri="{FF2B5EF4-FFF2-40B4-BE49-F238E27FC236}">
                  <a16:creationId xmlns:a16="http://schemas.microsoft.com/office/drawing/2014/main" id="{3F53FF9D-00D4-275D-E191-6D1D5670708E}"/>
                </a:ext>
              </a:extLst>
            </p:cNvPr>
            <p:cNvPicPr>
              <a:picLocks noChangeAspect="1"/>
            </p:cNvPicPr>
            <p:nvPr/>
          </p:nvPicPr>
          <p:blipFill>
            <a:blip r:embed="rId7"/>
            <a:stretch>
              <a:fillRect/>
            </a:stretch>
          </p:blipFill>
          <p:spPr>
            <a:xfrm>
              <a:off x="8798631" y="3723194"/>
              <a:ext cx="1801005" cy="1381453"/>
            </a:xfrm>
            <a:prstGeom prst="rect">
              <a:avLst/>
            </a:prstGeom>
          </p:spPr>
        </p:pic>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11277295" cy="615553"/>
          </a:xfrm>
          <a:prstGeom prst="rect">
            <a:avLst/>
          </a:prstGeom>
          <a:noFill/>
        </p:spPr>
        <p:txBody>
          <a:bodyPr wrap="square">
            <a:spAutoFit/>
          </a:bodyPr>
          <a:lstStyle/>
          <a:p>
            <a:pPr>
              <a:defRPr sz="3400" b="1">
                <a:solidFill>
                  <a:srgbClr val="1B2A4A"/>
                </a:solidFill>
              </a:defRPr>
            </a:pPr>
            <a:r>
              <a:rPr dirty="0"/>
              <a:t>Control — Driving &amp; Reacting in Real Time</a:t>
            </a:r>
            <a:r>
              <a:rPr lang="zh-TW" altLang="en-US" sz="2000" dirty="0"/>
              <a:t> </a:t>
            </a:r>
            <a:r>
              <a:rPr lang="en-US" altLang="zh-TW" sz="2500" dirty="0"/>
              <a:t>(</a:t>
            </a:r>
            <a:r>
              <a:rPr lang="zh-TW" altLang="zh-TW" sz="2500" b="1" dirty="0"/>
              <a:t>Li Yuan</a:t>
            </a:r>
            <a:r>
              <a:rPr lang="en-US" altLang="zh-TW" sz="2500" dirty="0"/>
              <a:t>)</a:t>
            </a:r>
            <a:endParaRPr sz="2500" dirty="0"/>
          </a:p>
        </p:txBody>
      </p:sp>
      <p:sp>
        <p:nvSpPr>
          <p:cNvPr id="3" name="Rectangle 2"/>
          <p:cNvSpPr/>
          <p:nvPr/>
        </p:nvSpPr>
        <p:spPr>
          <a:xfrm>
            <a:off x="457200" y="1005840"/>
            <a:ext cx="11277295" cy="31750"/>
          </a:xfrm>
          <a:prstGeom prst="rect">
            <a:avLst/>
          </a:prstGeom>
          <a:solidFill>
            <a:srgbClr val="2E6F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143000"/>
            <a:ext cx="11277295" cy="2785378"/>
          </a:xfrm>
          <a:prstGeom prst="rect">
            <a:avLst/>
          </a:prstGeom>
          <a:noFill/>
        </p:spPr>
        <p:txBody>
          <a:bodyPr wrap="square">
            <a:spAutoFit/>
          </a:bodyPr>
          <a:lstStyle/>
          <a:p>
            <a:pPr>
              <a:spcAft>
                <a:spcPts val="800"/>
              </a:spcAft>
              <a:defRPr sz="2300">
                <a:solidFill>
                  <a:srgbClr val="222222"/>
                </a:solidFill>
              </a:defRPr>
            </a:pPr>
            <a:r>
              <a:rPr dirty="0"/>
              <a:t>•  Takes the path from planning and the readings from perception, drives the car</a:t>
            </a:r>
          </a:p>
          <a:p>
            <a:pPr>
              <a:spcAft>
                <a:spcPts val="400"/>
              </a:spcAft>
              <a:defRPr sz="1900">
                <a:solidFill>
                  <a:srgbClr val="555555"/>
                </a:solidFill>
              </a:defRPr>
            </a:pPr>
            <a:r>
              <a:rPr sz="2200" dirty="0"/>
              <a:t>‒  </a:t>
            </a:r>
            <a:r>
              <a:rPr sz="2200" b="1" dirty="0"/>
              <a:t>Steering</a:t>
            </a:r>
            <a:r>
              <a:rPr sz="2200" dirty="0"/>
              <a:t> aims at a point ahead on the path</a:t>
            </a:r>
            <a:r>
              <a:rPr lang="en-US" sz="2200" dirty="0"/>
              <a:t> and calculates a corresponding steering angle</a:t>
            </a:r>
            <a:endParaRPr sz="2200" dirty="0"/>
          </a:p>
          <a:p>
            <a:pPr>
              <a:spcAft>
                <a:spcPts val="400"/>
              </a:spcAft>
              <a:defRPr sz="1900">
                <a:solidFill>
                  <a:srgbClr val="555555"/>
                </a:solidFill>
              </a:defRPr>
            </a:pPr>
            <a:r>
              <a:rPr sz="2200" dirty="0"/>
              <a:t>‒  </a:t>
            </a:r>
            <a:r>
              <a:rPr sz="2200" b="1" dirty="0"/>
              <a:t>Speed</a:t>
            </a:r>
            <a:r>
              <a:rPr sz="2200" dirty="0"/>
              <a:t> follows a safe distance from anything ahead</a:t>
            </a:r>
            <a:r>
              <a:rPr lang="en-US" sz="2200" dirty="0"/>
              <a:t> under a desired velocity with a proportional and feedforward controller</a:t>
            </a:r>
            <a:endParaRPr sz="2200" dirty="0"/>
          </a:p>
          <a:p>
            <a:pPr>
              <a:spcAft>
                <a:spcPts val="400"/>
              </a:spcAft>
              <a:defRPr sz="1900">
                <a:solidFill>
                  <a:srgbClr val="555555"/>
                </a:solidFill>
              </a:defRPr>
            </a:pPr>
            <a:r>
              <a:rPr sz="2200" dirty="0"/>
              <a:t>‒  Stops correctly at red lights, resumes on green</a:t>
            </a:r>
          </a:p>
          <a:p>
            <a:pPr>
              <a:spcAft>
                <a:spcPts val="400"/>
              </a:spcAft>
              <a:defRPr sz="1900">
                <a:solidFill>
                  <a:srgbClr val="555555"/>
                </a:solidFill>
              </a:defRPr>
            </a:pPr>
            <a:r>
              <a:rPr sz="2200" dirty="0"/>
              <a:t>‒  When the perception node flags a parked obstacle → verifies it's clear, takes a smooth detour</a:t>
            </a:r>
          </a:p>
          <a:p>
            <a:pPr>
              <a:spcAft>
                <a:spcPts val="400"/>
              </a:spcAft>
              <a:defRPr sz="1900">
                <a:solidFill>
                  <a:srgbClr val="555555"/>
                </a:solidFill>
              </a:defRPr>
            </a:pPr>
            <a:r>
              <a:rPr sz="2200" dirty="0"/>
              <a:t>‒  Independent emergency brake if a collision risk is detected</a:t>
            </a:r>
          </a:p>
        </p:txBody>
      </p:sp>
      <p:sp>
        <p:nvSpPr>
          <p:cNvPr id="12" name="文字方塊 11">
            <a:extLst>
              <a:ext uri="{FF2B5EF4-FFF2-40B4-BE49-F238E27FC236}">
                <a16:creationId xmlns:a16="http://schemas.microsoft.com/office/drawing/2014/main" id="{F85B1F4F-902A-EAC3-F7E6-032FB6E55B0C}"/>
              </a:ext>
            </a:extLst>
          </p:cNvPr>
          <p:cNvSpPr txBox="1"/>
          <p:nvPr/>
        </p:nvSpPr>
        <p:spPr>
          <a:xfrm>
            <a:off x="457200" y="3879730"/>
            <a:ext cx="3226461" cy="400110"/>
          </a:xfrm>
          <a:prstGeom prst="rect">
            <a:avLst/>
          </a:prstGeom>
          <a:noFill/>
        </p:spPr>
        <p:txBody>
          <a:bodyPr wrap="none" rtlCol="0">
            <a:spAutoFit/>
          </a:bodyPr>
          <a:lstStyle/>
          <a:p>
            <a:r>
              <a:rPr lang="en-US" altLang="zh-TW" sz="2000" b="1" dirty="0"/>
              <a:t>L</a:t>
            </a:r>
            <a:r>
              <a:rPr lang="zh-TW" altLang="zh-TW" sz="2000" b="1" dirty="0"/>
              <a:t>ongitudinal</a:t>
            </a:r>
            <a:r>
              <a:rPr lang="en-US" altLang="zh-TW" sz="2000" b="1" dirty="0"/>
              <a:t> Control (Speed)</a:t>
            </a:r>
            <a:endParaRPr kumimoji="1" lang="zh-TW" altLang="en-US" sz="2000" b="1" dirty="0"/>
          </a:p>
        </p:txBody>
      </p:sp>
      <p:sp>
        <p:nvSpPr>
          <p:cNvPr id="13" name="文字方塊 12">
            <a:extLst>
              <a:ext uri="{FF2B5EF4-FFF2-40B4-BE49-F238E27FC236}">
                <a16:creationId xmlns:a16="http://schemas.microsoft.com/office/drawing/2014/main" id="{F9728367-1229-805A-039C-4A5DD69DF018}"/>
              </a:ext>
            </a:extLst>
          </p:cNvPr>
          <p:cNvSpPr txBox="1"/>
          <p:nvPr/>
        </p:nvSpPr>
        <p:spPr>
          <a:xfrm>
            <a:off x="6032526" y="3879730"/>
            <a:ext cx="2849883" cy="400110"/>
          </a:xfrm>
          <a:prstGeom prst="rect">
            <a:avLst/>
          </a:prstGeom>
          <a:noFill/>
        </p:spPr>
        <p:txBody>
          <a:bodyPr wrap="none" rtlCol="0">
            <a:spAutoFit/>
          </a:bodyPr>
          <a:lstStyle/>
          <a:p>
            <a:r>
              <a:rPr lang="en-US" altLang="zh-TW" sz="2000" b="1" dirty="0"/>
              <a:t>Lateral Control (Steering)</a:t>
            </a:r>
            <a:endParaRPr kumimoji="1" lang="zh-TW" altLang="en-US" sz="2000" b="1" dirty="0"/>
          </a:p>
        </p:txBody>
      </p:sp>
      <mc:AlternateContent xmlns:mc="http://schemas.openxmlformats.org/markup-compatibility/2006" xmlns:a14="http://schemas.microsoft.com/office/drawing/2010/main">
        <mc:Choice Requires="a14">
          <p:sp>
            <p:nvSpPr>
              <p:cNvPr id="40" name="文字方塊 39">
                <a:extLst>
                  <a:ext uri="{FF2B5EF4-FFF2-40B4-BE49-F238E27FC236}">
                    <a16:creationId xmlns:a16="http://schemas.microsoft.com/office/drawing/2014/main" id="{A7B9B06F-E1AF-6172-BE86-FC89BB4916FB}"/>
                  </a:ext>
                </a:extLst>
              </p:cNvPr>
              <p:cNvSpPr txBox="1"/>
              <p:nvPr/>
            </p:nvSpPr>
            <p:spPr>
              <a:xfrm>
                <a:off x="10060074" y="4238694"/>
                <a:ext cx="1920398" cy="114499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kumimoji="1" lang="zh-TW" altLang="en-US" sz="1500" i="1" smtClean="0">
                              <a:latin typeface="Cambria Math" panose="02040503050406030204" pitchFamily="18" charset="0"/>
                            </a:rPr>
                          </m:ctrlPr>
                        </m:sSubPr>
                        <m:e>
                          <m:r>
                            <m:rPr>
                              <m:sty m:val="p"/>
                            </m:rPr>
                            <a:rPr kumimoji="1" lang="en-US" altLang="zh-TW" sz="1500" b="0" i="1" smtClean="0">
                              <a:latin typeface="Cambria Math" panose="02040503050406030204" pitchFamily="18" charset="0"/>
                            </a:rPr>
                            <m:t>L</m:t>
                          </m:r>
                        </m:e>
                        <m:sub>
                          <m:r>
                            <m:rPr>
                              <m:sty m:val="p"/>
                            </m:rPr>
                            <a:rPr kumimoji="1" lang="en-US" altLang="zh-TW" sz="1500" b="0" i="1" smtClean="0">
                              <a:latin typeface="Cambria Math" panose="02040503050406030204" pitchFamily="18" charset="0"/>
                            </a:rPr>
                            <m:t>d</m:t>
                          </m:r>
                        </m:sub>
                      </m:sSub>
                      <m:r>
                        <a:rPr kumimoji="1" lang="en-US" altLang="zh-TW" sz="1500" b="0" i="1" smtClean="0">
                          <a:latin typeface="Cambria Math" panose="02040503050406030204" pitchFamily="18" charset="0"/>
                        </a:rPr>
                        <m:t>=</m:t>
                      </m:r>
                      <m:sSub>
                        <m:sSubPr>
                          <m:ctrlPr>
                            <a:rPr kumimoji="1" lang="zh-TW" altLang="en-US" sz="1500" b="0" i="1" smtClean="0">
                              <a:latin typeface="Cambria Math" panose="02040503050406030204" pitchFamily="18" charset="0"/>
                            </a:rPr>
                          </m:ctrlPr>
                        </m:sSubPr>
                        <m:e>
                          <m:r>
                            <m:rPr>
                              <m:sty m:val="p"/>
                            </m:rPr>
                            <a:rPr kumimoji="1" lang="en-US" altLang="zh-TW" sz="1500" b="0" i="1" smtClean="0">
                              <a:latin typeface="Cambria Math" panose="02040503050406030204" pitchFamily="18" charset="0"/>
                            </a:rPr>
                            <m:t>L</m:t>
                          </m:r>
                        </m:e>
                        <m:sub>
                          <m:r>
                            <m:rPr>
                              <m:sty m:val="p"/>
                            </m:rPr>
                            <a:rPr kumimoji="1" lang="en-US" altLang="zh-TW" sz="1500" b="0" i="1" smtClean="0">
                              <a:latin typeface="Cambria Math" panose="02040503050406030204" pitchFamily="18" charset="0"/>
                            </a:rPr>
                            <m:t>d</m:t>
                          </m:r>
                          <m:r>
                            <a:rPr kumimoji="1" lang="en-US" altLang="zh-TW" sz="1500" b="0" i="1" smtClean="0">
                              <a:latin typeface="Cambria Math" panose="02040503050406030204" pitchFamily="18" charset="0"/>
                            </a:rPr>
                            <m:t>,</m:t>
                          </m:r>
                          <m:r>
                            <m:rPr>
                              <m:sty m:val="p"/>
                            </m:rPr>
                            <a:rPr kumimoji="1" lang="en-US" altLang="zh-TW" sz="1500" b="0" i="1" smtClean="0">
                              <a:latin typeface="Cambria Math" panose="02040503050406030204" pitchFamily="18" charset="0"/>
                            </a:rPr>
                            <m:t>min</m:t>
                          </m:r>
                        </m:sub>
                      </m:sSub>
                      <m:r>
                        <a:rPr kumimoji="1" lang="en-US" altLang="zh-TW" sz="1500" b="0" i="1" smtClean="0">
                          <a:latin typeface="Cambria Math" panose="02040503050406030204" pitchFamily="18" charset="0"/>
                        </a:rPr>
                        <m:t>+0.3</m:t>
                      </m:r>
                      <m:r>
                        <a:rPr kumimoji="1" lang="en-US" altLang="zh-TW" sz="1500" b="0" i="1" smtClean="0">
                          <a:latin typeface="Cambria Math" panose="02040503050406030204" pitchFamily="18" charset="0"/>
                          <a:ea typeface="Cambria Math" panose="02040503050406030204" pitchFamily="18" charset="0"/>
                        </a:rPr>
                        <m:t>×</m:t>
                      </m:r>
                      <m:sSub>
                        <m:sSubPr>
                          <m:ctrlPr>
                            <a:rPr kumimoji="1" lang="zh-TW" altLang="en-US" sz="1500" b="0" i="1" smtClean="0">
                              <a:latin typeface="Cambria Math" panose="02040503050406030204" pitchFamily="18" charset="0"/>
                              <a:ea typeface="Cambria Math" panose="02040503050406030204" pitchFamily="18" charset="0"/>
                            </a:rPr>
                          </m:ctrlPr>
                        </m:sSubPr>
                        <m:e>
                          <m:r>
                            <m:rPr>
                              <m:sty m:val="p"/>
                            </m:rPr>
                            <a:rPr kumimoji="1" lang="en-US" altLang="zh-TW" sz="1500" b="0" i="1" smtClean="0">
                              <a:latin typeface="Cambria Math" panose="02040503050406030204" pitchFamily="18" charset="0"/>
                              <a:ea typeface="Cambria Math" panose="02040503050406030204" pitchFamily="18" charset="0"/>
                            </a:rPr>
                            <m:t>v</m:t>
                          </m:r>
                        </m:e>
                        <m:sub>
                          <m:r>
                            <m:rPr>
                              <m:sty m:val="p"/>
                            </m:rPr>
                            <a:rPr kumimoji="1" lang="en-US" altLang="zh-TW" sz="1500" b="0" i="1" smtClean="0">
                              <a:latin typeface="Cambria Math" panose="02040503050406030204" pitchFamily="18" charset="0"/>
                              <a:ea typeface="Cambria Math" panose="02040503050406030204" pitchFamily="18" charset="0"/>
                            </a:rPr>
                            <m:t>car</m:t>
                          </m:r>
                        </m:sub>
                      </m:sSub>
                    </m:oMath>
                  </m:oMathPara>
                </a14:m>
                <a:endParaRPr kumimoji="1" lang="en-US" altLang="zh-TW" sz="1500" dirty="0"/>
              </a:p>
              <a:p>
                <a:pPr/>
                <a14:m>
                  <m:oMathPara xmlns:m="http://schemas.openxmlformats.org/officeDocument/2006/math">
                    <m:oMathParaPr>
                      <m:jc m:val="centerGroup"/>
                    </m:oMathParaPr>
                    <m:oMath xmlns:m="http://schemas.openxmlformats.org/officeDocument/2006/math">
                      <m:r>
                        <a:rPr kumimoji="1" lang="zh-TW" altLang="en-US" sz="1500" i="1" smtClean="0">
                          <a:latin typeface="Cambria Math" panose="02040503050406030204" pitchFamily="18" charset="0"/>
                        </a:rPr>
                        <m:t>𝛼</m:t>
                      </m:r>
                      <m:r>
                        <a:rPr kumimoji="1" lang="en-US" altLang="zh-TW" sz="1500" b="0" i="1" smtClean="0">
                          <a:latin typeface="Cambria Math" panose="02040503050406030204" pitchFamily="18" charset="0"/>
                        </a:rPr>
                        <m:t>=</m:t>
                      </m:r>
                      <m:func>
                        <m:funcPr>
                          <m:ctrlPr>
                            <a:rPr kumimoji="1" lang="zh-TW" altLang="en-US" sz="1500" i="1">
                              <a:latin typeface="Cambria Math" panose="02040503050406030204" pitchFamily="18" charset="0"/>
                            </a:rPr>
                          </m:ctrlPr>
                        </m:funcPr>
                        <m:fName>
                          <m:sSup>
                            <m:sSupPr>
                              <m:ctrlPr>
                                <a:rPr kumimoji="1" lang="zh-TW" altLang="en-US" sz="1500" i="1">
                                  <a:latin typeface="Cambria Math" panose="02040503050406030204" pitchFamily="18" charset="0"/>
                                </a:rPr>
                              </m:ctrlPr>
                            </m:sSupPr>
                            <m:e>
                              <m:r>
                                <m:rPr>
                                  <m:sty m:val="p"/>
                                </m:rPr>
                                <a:rPr kumimoji="1" lang="en-US" altLang="zh-TW" sz="1500">
                                  <a:latin typeface="Cambria Math" panose="02040503050406030204" pitchFamily="18" charset="0"/>
                                </a:rPr>
                                <m:t>tan</m:t>
                              </m:r>
                            </m:e>
                            <m:sup>
                              <m:r>
                                <a:rPr kumimoji="1" lang="zh-TW" altLang="en-US" sz="1500" i="1">
                                  <a:latin typeface="Cambria Math" panose="02040503050406030204" pitchFamily="18" charset="0"/>
                                </a:rPr>
                                <m:t>−</m:t>
                              </m:r>
                              <m:r>
                                <a:rPr kumimoji="1" lang="en-US" altLang="zh-TW" sz="1500" i="1">
                                  <a:latin typeface="Cambria Math" panose="02040503050406030204" pitchFamily="18" charset="0"/>
                                </a:rPr>
                                <m:t>1</m:t>
                              </m:r>
                            </m:sup>
                          </m:sSup>
                        </m:fName>
                        <m:e>
                          <m:r>
                            <a:rPr kumimoji="1" lang="en-US" altLang="zh-TW" sz="1500" i="1">
                              <a:latin typeface="Cambria Math" panose="02040503050406030204" pitchFamily="18" charset="0"/>
                            </a:rPr>
                            <m:t>(</m:t>
                          </m:r>
                          <m:f>
                            <m:fPr>
                              <m:ctrlPr>
                                <a:rPr kumimoji="1" lang="en-US" altLang="zh-TW" sz="1500" i="1">
                                  <a:latin typeface="Cambria Math" panose="02040503050406030204" pitchFamily="18" charset="0"/>
                                </a:rPr>
                              </m:ctrlPr>
                            </m:fPr>
                            <m:num>
                              <m:sSub>
                                <m:sSubPr>
                                  <m:ctrlPr>
                                    <a:rPr kumimoji="1" lang="en-US" altLang="zh-TW" sz="1500" i="1" smtClean="0">
                                      <a:latin typeface="Cambria Math" panose="02040503050406030204" pitchFamily="18" charset="0"/>
                                    </a:rPr>
                                  </m:ctrlPr>
                                </m:sSubPr>
                                <m:e>
                                  <m:r>
                                    <m:rPr>
                                      <m:sty m:val="p"/>
                                    </m:rPr>
                                    <a:rPr kumimoji="1" lang="en-US" altLang="zh-TW" sz="1500" b="0" i="1" smtClean="0">
                                      <a:latin typeface="Cambria Math" panose="02040503050406030204" pitchFamily="18" charset="0"/>
                                    </a:rPr>
                                    <m:t>y</m:t>
                                  </m:r>
                                </m:e>
                                <m:sub>
                                  <m:r>
                                    <m:rPr>
                                      <m:sty m:val="p"/>
                                    </m:rPr>
                                    <a:rPr kumimoji="1" lang="en-US" altLang="zh-TW" sz="1500" b="0" i="1" smtClean="0">
                                      <a:latin typeface="Cambria Math" panose="02040503050406030204" pitchFamily="18" charset="0"/>
                                    </a:rPr>
                                    <m:t>r</m:t>
                                  </m:r>
                                </m:sub>
                              </m:sSub>
                            </m:num>
                            <m:den>
                              <m:sSub>
                                <m:sSubPr>
                                  <m:ctrlPr>
                                    <a:rPr kumimoji="1" lang="en-US" altLang="zh-TW" sz="1500" i="1">
                                      <a:latin typeface="Cambria Math" panose="02040503050406030204" pitchFamily="18" charset="0"/>
                                    </a:rPr>
                                  </m:ctrlPr>
                                </m:sSubPr>
                                <m:e>
                                  <m:r>
                                    <m:rPr>
                                      <m:sty m:val="p"/>
                                    </m:rPr>
                                    <a:rPr kumimoji="1" lang="en-US" altLang="zh-TW" sz="1500" b="0" i="1" smtClean="0">
                                      <a:latin typeface="Cambria Math" panose="02040503050406030204" pitchFamily="18" charset="0"/>
                                    </a:rPr>
                                    <m:t>x</m:t>
                                  </m:r>
                                </m:e>
                                <m:sub>
                                  <m:r>
                                    <m:rPr>
                                      <m:sty m:val="p"/>
                                    </m:rPr>
                                    <a:rPr kumimoji="1" lang="en-US" altLang="zh-TW" sz="1500" b="0" i="1" smtClean="0">
                                      <a:latin typeface="Cambria Math" panose="02040503050406030204" pitchFamily="18" charset="0"/>
                                    </a:rPr>
                                    <m:t>r</m:t>
                                  </m:r>
                                </m:sub>
                              </m:sSub>
                            </m:den>
                          </m:f>
                          <m:r>
                            <a:rPr kumimoji="1" lang="en-US" altLang="zh-TW" sz="1500" i="1">
                              <a:latin typeface="Cambria Math" panose="02040503050406030204" pitchFamily="18" charset="0"/>
                            </a:rPr>
                            <m:t>)</m:t>
                          </m:r>
                        </m:e>
                      </m:func>
                    </m:oMath>
                  </m:oMathPara>
                </a14:m>
                <a:endParaRPr kumimoji="1" lang="en-US" altLang="zh-TW" sz="1500" i="1"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kumimoji="1" lang="zh-TW" altLang="en-US" sz="1500" i="1" smtClean="0">
                          <a:latin typeface="Cambria Math" panose="02040503050406030204" pitchFamily="18" charset="0"/>
                        </a:rPr>
                        <m:t>𝛿</m:t>
                      </m:r>
                      <m:r>
                        <a:rPr kumimoji="1" lang="en-US" altLang="zh-TW" sz="1500" b="0" i="1" smtClean="0">
                          <a:latin typeface="Cambria Math" panose="02040503050406030204" pitchFamily="18" charset="0"/>
                        </a:rPr>
                        <m:t>=</m:t>
                      </m:r>
                      <m:func>
                        <m:funcPr>
                          <m:ctrlPr>
                            <a:rPr kumimoji="1" lang="zh-TW" altLang="en-US" sz="1500" b="0" i="1" smtClean="0">
                              <a:latin typeface="Cambria Math" panose="02040503050406030204" pitchFamily="18" charset="0"/>
                            </a:rPr>
                          </m:ctrlPr>
                        </m:funcPr>
                        <m:fName>
                          <m:sSup>
                            <m:sSupPr>
                              <m:ctrlPr>
                                <a:rPr kumimoji="1" lang="zh-TW" altLang="en-US" sz="1500" b="0" i="1" smtClean="0">
                                  <a:latin typeface="Cambria Math" panose="02040503050406030204" pitchFamily="18" charset="0"/>
                                </a:rPr>
                              </m:ctrlPr>
                            </m:sSupPr>
                            <m:e>
                              <m:r>
                                <m:rPr>
                                  <m:sty m:val="p"/>
                                </m:rPr>
                                <a:rPr kumimoji="1" lang="en-US" altLang="zh-TW" sz="1500" b="0" i="0" smtClean="0">
                                  <a:latin typeface="Cambria Math" panose="02040503050406030204" pitchFamily="18" charset="0"/>
                                </a:rPr>
                                <m:t>tan</m:t>
                              </m:r>
                            </m:e>
                            <m:sup>
                              <m:r>
                                <a:rPr kumimoji="1" lang="zh-TW" altLang="en-US" sz="1500" b="0" i="1" smtClean="0">
                                  <a:latin typeface="Cambria Math" panose="02040503050406030204" pitchFamily="18" charset="0"/>
                                </a:rPr>
                                <m:t>−</m:t>
                              </m:r>
                              <m:r>
                                <a:rPr kumimoji="1" lang="en-US" altLang="zh-TW" sz="1500" b="0" i="1" smtClean="0">
                                  <a:latin typeface="Cambria Math" panose="02040503050406030204" pitchFamily="18" charset="0"/>
                                </a:rPr>
                                <m:t>1</m:t>
                              </m:r>
                            </m:sup>
                          </m:sSup>
                        </m:fName>
                        <m:e>
                          <m:r>
                            <a:rPr kumimoji="1" lang="en-US" altLang="zh-TW" sz="1500" b="0" i="1" smtClean="0">
                              <a:latin typeface="Cambria Math" panose="02040503050406030204" pitchFamily="18" charset="0"/>
                            </a:rPr>
                            <m:t>(</m:t>
                          </m:r>
                          <m:f>
                            <m:fPr>
                              <m:ctrlPr>
                                <a:rPr kumimoji="1" lang="en-US" altLang="zh-TW" sz="1500" b="0" i="1" smtClean="0">
                                  <a:latin typeface="Cambria Math" panose="02040503050406030204" pitchFamily="18" charset="0"/>
                                </a:rPr>
                              </m:ctrlPr>
                            </m:fPr>
                            <m:num>
                              <m:r>
                                <a:rPr kumimoji="1" lang="en-US" altLang="zh-TW" sz="1500" b="0" i="1" smtClean="0">
                                  <a:latin typeface="Cambria Math" panose="02040503050406030204" pitchFamily="18" charset="0"/>
                                </a:rPr>
                                <m:t>2</m:t>
                              </m:r>
                              <m:r>
                                <m:rPr>
                                  <m:sty m:val="p"/>
                                </m:rPr>
                                <a:rPr kumimoji="1" lang="en-US" altLang="zh-TW" sz="1500" b="0" i="1" smtClean="0">
                                  <a:latin typeface="Cambria Math" panose="02040503050406030204" pitchFamily="18" charset="0"/>
                                </a:rPr>
                                <m:t>L</m:t>
                              </m:r>
                              <m:func>
                                <m:funcPr>
                                  <m:ctrlPr>
                                    <a:rPr kumimoji="1" lang="en-US" altLang="zh-TW" sz="1500" b="0" i="1" smtClean="0">
                                      <a:latin typeface="Cambria Math" panose="02040503050406030204" pitchFamily="18" charset="0"/>
                                    </a:rPr>
                                  </m:ctrlPr>
                                </m:funcPr>
                                <m:fName>
                                  <m:r>
                                    <m:rPr>
                                      <m:sty m:val="p"/>
                                    </m:rPr>
                                    <a:rPr kumimoji="1" lang="en-US" altLang="zh-TW" sz="1500" b="0" i="0" smtClean="0">
                                      <a:latin typeface="Cambria Math" panose="02040503050406030204" pitchFamily="18" charset="0"/>
                                    </a:rPr>
                                    <m:t>sin</m:t>
                                  </m:r>
                                </m:fName>
                                <m:e>
                                  <m:r>
                                    <a:rPr kumimoji="1" lang="en-US" altLang="zh-TW" sz="1500" b="0" i="1" smtClean="0">
                                      <a:latin typeface="Cambria Math" panose="02040503050406030204" pitchFamily="18" charset="0"/>
                                      <a:ea typeface="Cambria Math" panose="02040503050406030204" pitchFamily="18" charset="0"/>
                                    </a:rPr>
                                    <m:t>𝛼</m:t>
                                  </m:r>
                                </m:e>
                              </m:func>
                            </m:num>
                            <m:den>
                              <m:sSub>
                                <m:sSubPr>
                                  <m:ctrlPr>
                                    <a:rPr kumimoji="1" lang="en-US" altLang="zh-TW" sz="1500" i="1">
                                      <a:latin typeface="Cambria Math" panose="02040503050406030204" pitchFamily="18" charset="0"/>
                                    </a:rPr>
                                  </m:ctrlPr>
                                </m:sSubPr>
                                <m:e>
                                  <m:r>
                                    <m:rPr>
                                      <m:sty m:val="p"/>
                                    </m:rPr>
                                    <a:rPr kumimoji="1" lang="en-US" altLang="zh-TW" sz="1500" i="1">
                                      <a:latin typeface="Cambria Math" panose="02040503050406030204" pitchFamily="18" charset="0"/>
                                    </a:rPr>
                                    <m:t>L</m:t>
                                  </m:r>
                                </m:e>
                                <m:sub>
                                  <m:r>
                                    <m:rPr>
                                      <m:sty m:val="p"/>
                                    </m:rPr>
                                    <a:rPr kumimoji="1" lang="en-US" altLang="zh-TW" sz="1500" i="1">
                                      <a:latin typeface="Cambria Math" panose="02040503050406030204" pitchFamily="18" charset="0"/>
                                    </a:rPr>
                                    <m:t>d</m:t>
                                  </m:r>
                                </m:sub>
                              </m:sSub>
                            </m:den>
                          </m:f>
                          <m:r>
                            <a:rPr kumimoji="1" lang="en-US" altLang="zh-TW" sz="1500" b="0" i="1" smtClean="0">
                              <a:latin typeface="Cambria Math" panose="02040503050406030204" pitchFamily="18" charset="0"/>
                            </a:rPr>
                            <m:t>)</m:t>
                          </m:r>
                        </m:e>
                      </m:func>
                    </m:oMath>
                  </m:oMathPara>
                </a14:m>
                <a:endParaRPr kumimoji="1" lang="zh-TW" altLang="en-US" sz="1500" dirty="0"/>
              </a:p>
            </p:txBody>
          </p:sp>
        </mc:Choice>
        <mc:Fallback xmlns="">
          <p:sp>
            <p:nvSpPr>
              <p:cNvPr id="40" name="文字方塊 39">
                <a:extLst>
                  <a:ext uri="{FF2B5EF4-FFF2-40B4-BE49-F238E27FC236}">
                    <a16:creationId xmlns:a16="http://schemas.microsoft.com/office/drawing/2014/main" id="{A7B9B06F-E1AF-6172-BE86-FC89BB4916FB}"/>
                  </a:ext>
                </a:extLst>
              </p:cNvPr>
              <p:cNvSpPr txBox="1">
                <a:spLocks noRot="1" noChangeAspect="1" noMove="1" noResize="1" noEditPoints="1" noAdjustHandles="1" noChangeArrowheads="1" noChangeShapeType="1" noTextEdit="1"/>
              </p:cNvSpPr>
              <p:nvPr/>
            </p:nvSpPr>
            <p:spPr>
              <a:xfrm>
                <a:off x="10060074" y="4238694"/>
                <a:ext cx="1920398" cy="1144993"/>
              </a:xfrm>
              <a:prstGeom prst="rect">
                <a:avLst/>
              </a:prstGeom>
              <a:blipFill>
                <a:blip r:embed="rId3"/>
                <a:stretch>
                  <a:fillRect l="-1974" b="-4396"/>
                </a:stretch>
              </a:blipFill>
            </p:spPr>
            <p:txBody>
              <a:bodyPr/>
              <a:lstStyle/>
              <a:p>
                <a:r>
                  <a:rPr lang="zh-TW" altLang="en-US">
                    <a:noFill/>
                  </a:rPr>
                  <a:t> </a:t>
                </a:r>
              </a:p>
            </p:txBody>
          </p:sp>
        </mc:Fallback>
      </mc:AlternateContent>
      <p:grpSp>
        <p:nvGrpSpPr>
          <p:cNvPr id="58" name="群組 57">
            <a:extLst>
              <a:ext uri="{FF2B5EF4-FFF2-40B4-BE49-F238E27FC236}">
                <a16:creationId xmlns:a16="http://schemas.microsoft.com/office/drawing/2014/main" id="{D02219B3-6B5D-28FA-FF46-BBA819C34C94}"/>
              </a:ext>
            </a:extLst>
          </p:cNvPr>
          <p:cNvGrpSpPr/>
          <p:nvPr/>
        </p:nvGrpSpPr>
        <p:grpSpPr>
          <a:xfrm>
            <a:off x="444265" y="4447041"/>
            <a:ext cx="4937890" cy="2301519"/>
            <a:chOff x="444265" y="4225361"/>
            <a:chExt cx="4937890" cy="2301519"/>
          </a:xfrm>
        </p:grpSpPr>
        <p:pic>
          <p:nvPicPr>
            <p:cNvPr id="6" name="圖形 5" descr="汽車 以實心填滿">
              <a:extLst>
                <a:ext uri="{FF2B5EF4-FFF2-40B4-BE49-F238E27FC236}">
                  <a16:creationId xmlns:a16="http://schemas.microsoft.com/office/drawing/2014/main" id="{BC16D1E5-F1FA-9E24-46C9-0B1F0415F39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71118" y="5262214"/>
              <a:ext cx="1080000" cy="1080000"/>
            </a:xfrm>
            <a:prstGeom prst="rect">
              <a:avLst/>
            </a:prstGeom>
          </p:spPr>
        </p:pic>
        <p:cxnSp>
          <p:nvCxnSpPr>
            <p:cNvPr id="48" name="曲線接點 47">
              <a:extLst>
                <a:ext uri="{FF2B5EF4-FFF2-40B4-BE49-F238E27FC236}">
                  <a16:creationId xmlns:a16="http://schemas.microsoft.com/office/drawing/2014/main" id="{2DF2F105-164E-FCFB-E6EB-6558BD338E8F}"/>
                </a:ext>
              </a:extLst>
            </p:cNvPr>
            <p:cNvCxnSpPr/>
            <p:nvPr/>
          </p:nvCxnSpPr>
          <p:spPr>
            <a:xfrm flipV="1">
              <a:off x="1128810" y="4668252"/>
              <a:ext cx="4253345" cy="1426525"/>
            </a:xfrm>
            <a:prstGeom prst="curvedConnector3">
              <a:avLst/>
            </a:prstGeom>
            <a:ln w="28575">
              <a:solidFill>
                <a:srgbClr val="FF0000"/>
              </a:solidFill>
              <a:tailEnd type="triangle"/>
            </a:ln>
          </p:spPr>
          <p:style>
            <a:lnRef idx="1">
              <a:schemeClr val="accent2"/>
            </a:lnRef>
            <a:fillRef idx="0">
              <a:schemeClr val="accent2"/>
            </a:fillRef>
            <a:effectRef idx="0">
              <a:schemeClr val="accent2"/>
            </a:effectRef>
            <a:fontRef idx="minor">
              <a:schemeClr val="tx1"/>
            </a:fontRef>
          </p:style>
        </p:cxnSp>
        <p:cxnSp>
          <p:nvCxnSpPr>
            <p:cNvPr id="51" name="直線箭頭接點 50">
              <a:extLst>
                <a:ext uri="{FF2B5EF4-FFF2-40B4-BE49-F238E27FC236}">
                  <a16:creationId xmlns:a16="http://schemas.microsoft.com/office/drawing/2014/main" id="{D86AC132-5FEF-1753-2321-BA5E3E7B4EC7}"/>
                </a:ext>
              </a:extLst>
            </p:cNvPr>
            <p:cNvCxnSpPr>
              <a:cxnSpLocks/>
            </p:cNvCxnSpPr>
            <p:nvPr/>
          </p:nvCxnSpPr>
          <p:spPr>
            <a:xfrm>
              <a:off x="1128810" y="6094777"/>
              <a:ext cx="977081" cy="0"/>
            </a:xfrm>
            <a:prstGeom prst="straightConnector1">
              <a:avLst/>
            </a:prstGeom>
            <a:ln w="19050">
              <a:prstDash val="dash"/>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53" name="文字方塊 52">
                  <a:extLst>
                    <a:ext uri="{FF2B5EF4-FFF2-40B4-BE49-F238E27FC236}">
                      <a16:creationId xmlns:a16="http://schemas.microsoft.com/office/drawing/2014/main" id="{4CFBFB61-9FA5-4869-4E50-060E65576341}"/>
                    </a:ext>
                  </a:extLst>
                </p:cNvPr>
                <p:cNvSpPr txBox="1"/>
                <p:nvPr/>
              </p:nvSpPr>
              <p:spPr>
                <a:xfrm>
                  <a:off x="1111118" y="6157548"/>
                  <a:ext cx="62222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kumimoji="1" lang="zh-TW" altLang="en-US" i="1">
                                <a:solidFill>
                                  <a:srgbClr val="0070C0"/>
                                </a:solidFill>
                                <a:latin typeface="Cambria Math" panose="02040503050406030204" pitchFamily="18" charset="0"/>
                              </a:rPr>
                            </m:ctrlPr>
                          </m:sSubPr>
                          <m:e>
                            <m:r>
                              <m:rPr>
                                <m:sty m:val="p"/>
                              </m:rPr>
                              <a:rPr kumimoji="1" lang="en-US" altLang="zh-TW" b="0" i="1" smtClean="0">
                                <a:solidFill>
                                  <a:srgbClr val="0070C0"/>
                                </a:solidFill>
                                <a:latin typeface="Cambria Math" panose="02040503050406030204" pitchFamily="18" charset="0"/>
                              </a:rPr>
                              <m:t>v</m:t>
                            </m:r>
                          </m:e>
                          <m:sub>
                            <m:r>
                              <m:rPr>
                                <m:sty m:val="p"/>
                              </m:rPr>
                              <a:rPr kumimoji="1" lang="en-US" altLang="zh-TW" b="0" i="1" smtClean="0">
                                <a:solidFill>
                                  <a:srgbClr val="0070C0"/>
                                </a:solidFill>
                                <a:latin typeface="Cambria Math" panose="02040503050406030204" pitchFamily="18" charset="0"/>
                              </a:rPr>
                              <m:t>car</m:t>
                            </m:r>
                          </m:sub>
                        </m:sSub>
                      </m:oMath>
                    </m:oMathPara>
                  </a14:m>
                  <a:endParaRPr kumimoji="1" lang="zh-TW" altLang="en-US" dirty="0"/>
                </a:p>
              </p:txBody>
            </p:sp>
          </mc:Choice>
          <mc:Fallback xmlns="">
            <p:sp>
              <p:nvSpPr>
                <p:cNvPr id="53" name="文字方塊 52">
                  <a:extLst>
                    <a:ext uri="{FF2B5EF4-FFF2-40B4-BE49-F238E27FC236}">
                      <a16:creationId xmlns:a16="http://schemas.microsoft.com/office/drawing/2014/main" id="{4CFBFB61-9FA5-4869-4E50-060E65576341}"/>
                    </a:ext>
                  </a:extLst>
                </p:cNvPr>
                <p:cNvSpPr txBox="1">
                  <a:spLocks noRot="1" noChangeAspect="1" noMove="1" noResize="1" noEditPoints="1" noAdjustHandles="1" noChangeArrowheads="1" noChangeShapeType="1" noTextEdit="1"/>
                </p:cNvSpPr>
                <p:nvPr/>
              </p:nvSpPr>
              <p:spPr>
                <a:xfrm>
                  <a:off x="1111118" y="6157548"/>
                  <a:ext cx="622222" cy="369332"/>
                </a:xfrm>
                <a:prstGeom prst="rect">
                  <a:avLst/>
                </a:prstGeom>
                <a:blipFill>
                  <a:blip r:embed="rId5"/>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56" name="文字方塊 55">
                  <a:extLst>
                    <a:ext uri="{FF2B5EF4-FFF2-40B4-BE49-F238E27FC236}">
                      <a16:creationId xmlns:a16="http://schemas.microsoft.com/office/drawing/2014/main" id="{37F8BF85-E03A-FA75-2CCE-51AF12D619FD}"/>
                    </a:ext>
                  </a:extLst>
                </p:cNvPr>
                <p:cNvSpPr txBox="1"/>
                <p:nvPr/>
              </p:nvSpPr>
              <p:spPr>
                <a:xfrm>
                  <a:off x="4555268" y="4709090"/>
                  <a:ext cx="644664"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kumimoji="1" lang="zh-TW" altLang="en-US" i="1" smtClean="0">
                                <a:solidFill>
                                  <a:srgbClr val="FF0000"/>
                                </a:solidFill>
                                <a:latin typeface="Cambria Math" panose="02040503050406030204" pitchFamily="18" charset="0"/>
                              </a:rPr>
                            </m:ctrlPr>
                          </m:sSubPr>
                          <m:e>
                            <m:r>
                              <m:rPr>
                                <m:sty m:val="p"/>
                              </m:rPr>
                              <a:rPr kumimoji="1" lang="en-US" altLang="zh-TW" i="1">
                                <a:solidFill>
                                  <a:srgbClr val="FF0000"/>
                                </a:solidFill>
                                <a:latin typeface="Cambria Math" panose="02040503050406030204" pitchFamily="18" charset="0"/>
                              </a:rPr>
                              <m:t>v</m:t>
                            </m:r>
                          </m:e>
                          <m:sub>
                            <m:r>
                              <m:rPr>
                                <m:sty m:val="p"/>
                              </m:rPr>
                              <a:rPr kumimoji="1" lang="en-US" altLang="zh-TW" b="0" i="1" smtClean="0">
                                <a:solidFill>
                                  <a:srgbClr val="FF0000"/>
                                </a:solidFill>
                                <a:latin typeface="Cambria Math" panose="02040503050406030204" pitchFamily="18" charset="0"/>
                              </a:rPr>
                              <m:t>des</m:t>
                            </m:r>
                          </m:sub>
                        </m:sSub>
                      </m:oMath>
                    </m:oMathPara>
                  </a14:m>
                  <a:endParaRPr kumimoji="1" lang="zh-TW" altLang="en-US" dirty="0">
                    <a:solidFill>
                      <a:srgbClr val="FF0000"/>
                    </a:solidFill>
                  </a:endParaRPr>
                </a:p>
              </p:txBody>
            </p:sp>
          </mc:Choice>
          <mc:Fallback>
            <p:sp>
              <p:nvSpPr>
                <p:cNvPr id="56" name="文字方塊 55">
                  <a:extLst>
                    <a:ext uri="{FF2B5EF4-FFF2-40B4-BE49-F238E27FC236}">
                      <a16:creationId xmlns:a16="http://schemas.microsoft.com/office/drawing/2014/main" id="{37F8BF85-E03A-FA75-2CCE-51AF12D619FD}"/>
                    </a:ext>
                  </a:extLst>
                </p:cNvPr>
                <p:cNvSpPr txBox="1">
                  <a:spLocks noRot="1" noChangeAspect="1" noMove="1" noResize="1" noEditPoints="1" noAdjustHandles="1" noChangeArrowheads="1" noChangeShapeType="1" noTextEdit="1"/>
                </p:cNvSpPr>
                <p:nvPr/>
              </p:nvSpPr>
              <p:spPr>
                <a:xfrm>
                  <a:off x="4555268" y="4709090"/>
                  <a:ext cx="644664" cy="369332"/>
                </a:xfrm>
                <a:prstGeom prst="rect">
                  <a:avLst/>
                </a:prstGeom>
                <a:blipFill>
                  <a:blip r:embed="rId6"/>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7" name="文字方塊 56">
                  <a:extLst>
                    <a:ext uri="{FF2B5EF4-FFF2-40B4-BE49-F238E27FC236}">
                      <a16:creationId xmlns:a16="http://schemas.microsoft.com/office/drawing/2014/main" id="{5225C98D-6CAE-1361-428A-AA858D9D4B58}"/>
                    </a:ext>
                  </a:extLst>
                </p:cNvPr>
                <p:cNvSpPr txBox="1"/>
                <p:nvPr/>
              </p:nvSpPr>
              <p:spPr>
                <a:xfrm>
                  <a:off x="444265" y="4225361"/>
                  <a:ext cx="3201004" cy="57445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kumimoji="1" lang="el-GR" altLang="zh-TW" sz="1500" i="1" smtClean="0">
                            <a:latin typeface="Cambria Math" panose="02040503050406030204" pitchFamily="18" charset="0"/>
                            <a:ea typeface="Cambria Math" panose="02040503050406030204" pitchFamily="18" charset="0"/>
                          </a:rPr>
                          <m:t>Δ</m:t>
                        </m:r>
                        <m:r>
                          <m:rPr>
                            <m:sty m:val="p"/>
                          </m:rPr>
                          <a:rPr kumimoji="1" lang="en-US" altLang="zh-TW" sz="1500" b="0" i="1" smtClean="0">
                            <a:latin typeface="Cambria Math" panose="02040503050406030204" pitchFamily="18" charset="0"/>
                            <a:ea typeface="Cambria Math" panose="02040503050406030204" pitchFamily="18" charset="0"/>
                          </a:rPr>
                          <m:t>v</m:t>
                        </m:r>
                        <m:r>
                          <a:rPr kumimoji="1" lang="en-US" altLang="zh-TW" sz="1500" b="0" i="1" smtClean="0">
                            <a:latin typeface="Cambria Math" panose="02040503050406030204" pitchFamily="18" charset="0"/>
                            <a:ea typeface="Cambria Math" panose="02040503050406030204" pitchFamily="18" charset="0"/>
                          </a:rPr>
                          <m:t>=</m:t>
                        </m:r>
                        <m:sSub>
                          <m:sSubPr>
                            <m:ctrlPr>
                              <a:rPr kumimoji="1" lang="zh-TW" altLang="en-US" sz="1500" b="0" i="1" smtClean="0">
                                <a:latin typeface="Cambria Math" panose="02040503050406030204" pitchFamily="18" charset="0"/>
                                <a:ea typeface="Cambria Math" panose="02040503050406030204" pitchFamily="18" charset="0"/>
                              </a:rPr>
                            </m:ctrlPr>
                          </m:sSubPr>
                          <m:e>
                            <m:r>
                              <m:rPr>
                                <m:sty m:val="p"/>
                              </m:rPr>
                              <a:rPr kumimoji="1" lang="en-US" altLang="zh-TW" sz="1500" b="0" i="1" smtClean="0">
                                <a:latin typeface="Cambria Math" panose="02040503050406030204" pitchFamily="18" charset="0"/>
                                <a:ea typeface="Cambria Math" panose="02040503050406030204" pitchFamily="18" charset="0"/>
                              </a:rPr>
                              <m:t>v</m:t>
                            </m:r>
                          </m:e>
                          <m:sub>
                            <m:r>
                              <m:rPr>
                                <m:sty m:val="p"/>
                              </m:rPr>
                              <a:rPr kumimoji="1" lang="en-US" altLang="zh-TW" sz="1500" b="0" i="1" smtClean="0">
                                <a:latin typeface="Cambria Math" panose="02040503050406030204" pitchFamily="18" charset="0"/>
                                <a:ea typeface="Cambria Math" panose="02040503050406030204" pitchFamily="18" charset="0"/>
                              </a:rPr>
                              <m:t>car</m:t>
                            </m:r>
                          </m:sub>
                        </m:sSub>
                        <m:r>
                          <a:rPr kumimoji="1" lang="en-US" altLang="zh-TW" sz="1500" b="0" i="1" smtClean="0">
                            <a:latin typeface="Cambria Math" panose="02040503050406030204" pitchFamily="18" charset="0"/>
                            <a:ea typeface="Cambria Math" panose="02040503050406030204" pitchFamily="18" charset="0"/>
                          </a:rPr>
                          <m:t> − </m:t>
                        </m:r>
                        <m:sSub>
                          <m:sSubPr>
                            <m:ctrlPr>
                              <a:rPr kumimoji="1" lang="zh-TW" altLang="en-US" sz="1500" i="1">
                                <a:latin typeface="Cambria Math" panose="02040503050406030204" pitchFamily="18" charset="0"/>
                                <a:ea typeface="Cambria Math" panose="02040503050406030204" pitchFamily="18" charset="0"/>
                              </a:rPr>
                            </m:ctrlPr>
                          </m:sSubPr>
                          <m:e>
                            <m:r>
                              <m:rPr>
                                <m:sty m:val="p"/>
                              </m:rPr>
                              <a:rPr kumimoji="1" lang="en-US" altLang="zh-TW" sz="1500" i="1">
                                <a:latin typeface="Cambria Math" panose="02040503050406030204" pitchFamily="18" charset="0"/>
                                <a:ea typeface="Cambria Math" panose="02040503050406030204" pitchFamily="18" charset="0"/>
                              </a:rPr>
                              <m:t>v</m:t>
                            </m:r>
                          </m:e>
                          <m:sub>
                            <m:r>
                              <m:rPr>
                                <m:sty m:val="p"/>
                              </m:rPr>
                              <a:rPr kumimoji="1" lang="en-US" altLang="zh-TW" sz="1500" b="0" i="1" smtClean="0">
                                <a:latin typeface="Cambria Math" panose="02040503050406030204" pitchFamily="18" charset="0"/>
                                <a:ea typeface="Cambria Math" panose="02040503050406030204" pitchFamily="18" charset="0"/>
                              </a:rPr>
                              <m:t>des</m:t>
                            </m:r>
                          </m:sub>
                        </m:sSub>
                      </m:oMath>
                    </m:oMathPara>
                  </a14:m>
                  <a:endParaRPr kumimoji="1" lang="en-US" altLang="zh-TW" sz="1500" dirty="0"/>
                </a:p>
                <a:p>
                  <a:pPr/>
                  <a14:m>
                    <m:oMathPara xmlns:m="http://schemas.openxmlformats.org/officeDocument/2006/math">
                      <m:oMathParaPr>
                        <m:jc m:val="centerGroup"/>
                      </m:oMathParaPr>
                      <m:oMath xmlns:m="http://schemas.openxmlformats.org/officeDocument/2006/math">
                        <m:r>
                          <m:rPr>
                            <m:sty m:val="p"/>
                          </m:rPr>
                          <a:rPr kumimoji="1" lang="en-US" altLang="zh-TW" sz="1500" b="0" i="1" smtClean="0">
                            <a:latin typeface="Cambria Math" panose="02040503050406030204" pitchFamily="18" charset="0"/>
                          </a:rPr>
                          <m:t>Throttle</m:t>
                        </m:r>
                        <m:r>
                          <a:rPr kumimoji="1" lang="en-US" altLang="zh-TW" sz="1500" b="0" i="1" smtClean="0">
                            <a:latin typeface="Cambria Math" panose="02040503050406030204" pitchFamily="18" charset="0"/>
                          </a:rPr>
                          <m:t>=</m:t>
                        </m:r>
                        <m:sSub>
                          <m:sSubPr>
                            <m:ctrlPr>
                              <a:rPr kumimoji="1" lang="zh-TW" altLang="en-US" sz="1500" b="0" i="1" smtClean="0">
                                <a:latin typeface="Cambria Math" panose="02040503050406030204" pitchFamily="18" charset="0"/>
                              </a:rPr>
                            </m:ctrlPr>
                          </m:sSubPr>
                          <m:e>
                            <m:r>
                              <m:rPr>
                                <m:sty m:val="p"/>
                              </m:rPr>
                              <a:rPr kumimoji="1" lang="en-US" altLang="zh-TW" sz="1500" b="0" i="1" smtClean="0">
                                <a:latin typeface="Cambria Math" panose="02040503050406030204" pitchFamily="18" charset="0"/>
                              </a:rPr>
                              <m:t>k</m:t>
                            </m:r>
                          </m:e>
                          <m:sub>
                            <m:r>
                              <m:rPr>
                                <m:sty m:val="p"/>
                              </m:rPr>
                              <a:rPr kumimoji="1" lang="en-US" altLang="zh-TW" sz="1500" b="0" i="1" smtClean="0">
                                <a:latin typeface="Cambria Math" panose="02040503050406030204" pitchFamily="18" charset="0"/>
                              </a:rPr>
                              <m:t>p</m:t>
                            </m:r>
                          </m:sub>
                        </m:sSub>
                        <m:r>
                          <a:rPr kumimoji="1" lang="en-US" altLang="zh-TW" sz="1500" b="0" i="1" smtClean="0">
                            <a:latin typeface="Cambria Math" panose="02040503050406030204" pitchFamily="18" charset="0"/>
                            <a:ea typeface="Cambria Math" panose="02040503050406030204" pitchFamily="18" charset="0"/>
                          </a:rPr>
                          <m:t>×</m:t>
                        </m:r>
                        <m:r>
                          <m:rPr>
                            <m:sty m:val="p"/>
                          </m:rPr>
                          <a:rPr kumimoji="1" lang="el-GR" altLang="zh-TW" sz="1500" i="1">
                            <a:latin typeface="Cambria Math" panose="02040503050406030204" pitchFamily="18" charset="0"/>
                            <a:ea typeface="Cambria Math" panose="02040503050406030204" pitchFamily="18" charset="0"/>
                          </a:rPr>
                          <m:t>Δ</m:t>
                        </m:r>
                        <m:r>
                          <m:rPr>
                            <m:sty m:val="p"/>
                          </m:rPr>
                          <a:rPr kumimoji="1" lang="en-US" altLang="zh-TW" sz="1500" i="1">
                            <a:latin typeface="Cambria Math" panose="02040503050406030204" pitchFamily="18" charset="0"/>
                            <a:ea typeface="Cambria Math" panose="02040503050406030204" pitchFamily="18" charset="0"/>
                          </a:rPr>
                          <m:t>v</m:t>
                        </m:r>
                        <m:r>
                          <a:rPr kumimoji="1" lang="en-US" altLang="zh-TW" sz="1500" b="0" i="1" smtClean="0">
                            <a:latin typeface="Cambria Math" panose="02040503050406030204" pitchFamily="18" charset="0"/>
                            <a:ea typeface="Cambria Math" panose="02040503050406030204" pitchFamily="18" charset="0"/>
                          </a:rPr>
                          <m:t>+</m:t>
                        </m:r>
                        <m:sSub>
                          <m:sSubPr>
                            <m:ctrlPr>
                              <a:rPr kumimoji="1" lang="zh-TW" altLang="en-US" sz="1500" b="0" i="1" smtClean="0">
                                <a:latin typeface="Cambria Math" panose="02040503050406030204" pitchFamily="18" charset="0"/>
                                <a:ea typeface="Cambria Math" panose="02040503050406030204" pitchFamily="18" charset="0"/>
                              </a:rPr>
                            </m:ctrlPr>
                          </m:sSubPr>
                          <m:e>
                            <m:r>
                              <m:rPr>
                                <m:sty m:val="p"/>
                              </m:rPr>
                              <a:rPr kumimoji="1" lang="en-US" altLang="zh-TW" sz="1500" b="0" i="1" smtClean="0">
                                <a:latin typeface="Cambria Math" panose="02040503050406030204" pitchFamily="18" charset="0"/>
                                <a:ea typeface="Cambria Math" panose="02040503050406030204" pitchFamily="18" charset="0"/>
                              </a:rPr>
                              <m:t>Throttle</m:t>
                            </m:r>
                          </m:e>
                          <m:sub>
                            <m:r>
                              <m:rPr>
                                <m:sty m:val="p"/>
                              </m:rPr>
                              <a:rPr kumimoji="1" lang="en-US" altLang="zh-TW" sz="1500" b="0" i="1" smtClean="0">
                                <a:latin typeface="Cambria Math" panose="02040503050406030204" pitchFamily="18" charset="0"/>
                                <a:ea typeface="Cambria Math" panose="02040503050406030204" pitchFamily="18" charset="0"/>
                              </a:rPr>
                              <m:t>ff</m:t>
                            </m:r>
                          </m:sub>
                        </m:sSub>
                        <m:r>
                          <a:rPr kumimoji="1" lang="en-US" altLang="zh-TW" sz="1500" b="0" i="1" smtClean="0">
                            <a:latin typeface="Cambria Math" panose="02040503050406030204" pitchFamily="18" charset="0"/>
                            <a:ea typeface="Cambria Math" panose="02040503050406030204" pitchFamily="18" charset="0"/>
                          </a:rPr>
                          <m:t>×</m:t>
                        </m:r>
                        <m:sSub>
                          <m:sSubPr>
                            <m:ctrlPr>
                              <a:rPr kumimoji="1" lang="zh-TW" altLang="en-US" sz="1500" i="1">
                                <a:latin typeface="Cambria Math" panose="02040503050406030204" pitchFamily="18" charset="0"/>
                                <a:ea typeface="Cambria Math" panose="02040503050406030204" pitchFamily="18" charset="0"/>
                              </a:rPr>
                            </m:ctrlPr>
                          </m:sSubPr>
                          <m:e>
                            <m:r>
                              <m:rPr>
                                <m:sty m:val="p"/>
                              </m:rPr>
                              <a:rPr kumimoji="1" lang="en-US" altLang="zh-TW" sz="1500" i="1">
                                <a:latin typeface="Cambria Math" panose="02040503050406030204" pitchFamily="18" charset="0"/>
                                <a:ea typeface="Cambria Math" panose="02040503050406030204" pitchFamily="18" charset="0"/>
                              </a:rPr>
                              <m:t>v</m:t>
                            </m:r>
                          </m:e>
                          <m:sub>
                            <m:r>
                              <m:rPr>
                                <m:sty m:val="p"/>
                              </m:rPr>
                              <a:rPr kumimoji="1" lang="en-US" altLang="zh-TW" sz="1500" i="1">
                                <a:latin typeface="Cambria Math" panose="02040503050406030204" pitchFamily="18" charset="0"/>
                                <a:ea typeface="Cambria Math" panose="02040503050406030204" pitchFamily="18" charset="0"/>
                              </a:rPr>
                              <m:t>des</m:t>
                            </m:r>
                          </m:sub>
                        </m:sSub>
                      </m:oMath>
                    </m:oMathPara>
                  </a14:m>
                  <a:endParaRPr kumimoji="1" lang="zh-TW" altLang="en-US" sz="1500" dirty="0"/>
                </a:p>
              </p:txBody>
            </p:sp>
          </mc:Choice>
          <mc:Fallback xmlns="">
            <p:sp>
              <p:nvSpPr>
                <p:cNvPr id="57" name="文字方塊 56">
                  <a:extLst>
                    <a:ext uri="{FF2B5EF4-FFF2-40B4-BE49-F238E27FC236}">
                      <a16:creationId xmlns:a16="http://schemas.microsoft.com/office/drawing/2014/main" id="{5225C98D-6CAE-1361-428A-AA858D9D4B58}"/>
                    </a:ext>
                  </a:extLst>
                </p:cNvPr>
                <p:cNvSpPr txBox="1">
                  <a:spLocks noRot="1" noChangeAspect="1" noMove="1" noResize="1" noEditPoints="1" noAdjustHandles="1" noChangeArrowheads="1" noChangeShapeType="1" noTextEdit="1"/>
                </p:cNvSpPr>
                <p:nvPr/>
              </p:nvSpPr>
              <p:spPr>
                <a:xfrm>
                  <a:off x="444265" y="4225361"/>
                  <a:ext cx="3201004" cy="574453"/>
                </a:xfrm>
                <a:prstGeom prst="rect">
                  <a:avLst/>
                </a:prstGeom>
                <a:blipFill>
                  <a:blip r:embed="rId7"/>
                  <a:stretch>
                    <a:fillRect/>
                  </a:stretch>
                </a:blipFill>
              </p:spPr>
              <p:txBody>
                <a:bodyPr/>
                <a:lstStyle/>
                <a:p>
                  <a:r>
                    <a:rPr lang="zh-TW" altLang="en-US">
                      <a:noFill/>
                    </a:rPr>
                    <a:t> </a:t>
                  </a:r>
                </a:p>
              </p:txBody>
            </p:sp>
          </mc:Fallback>
        </mc:AlternateContent>
      </p:grpSp>
      <p:grpSp>
        <p:nvGrpSpPr>
          <p:cNvPr id="61" name="群組 60">
            <a:extLst>
              <a:ext uri="{FF2B5EF4-FFF2-40B4-BE49-F238E27FC236}">
                <a16:creationId xmlns:a16="http://schemas.microsoft.com/office/drawing/2014/main" id="{EE114581-BFBE-E677-2618-996DACB907CE}"/>
              </a:ext>
            </a:extLst>
          </p:cNvPr>
          <p:cNvGrpSpPr/>
          <p:nvPr/>
        </p:nvGrpSpPr>
        <p:grpSpPr>
          <a:xfrm>
            <a:off x="6491238" y="4422858"/>
            <a:ext cx="4110989" cy="2325702"/>
            <a:chOff x="6855896" y="4153301"/>
            <a:chExt cx="4110989" cy="2325702"/>
          </a:xfrm>
        </p:grpSpPr>
        <p:grpSp>
          <p:nvGrpSpPr>
            <p:cNvPr id="49" name="群組 48">
              <a:extLst>
                <a:ext uri="{FF2B5EF4-FFF2-40B4-BE49-F238E27FC236}">
                  <a16:creationId xmlns:a16="http://schemas.microsoft.com/office/drawing/2014/main" id="{4EDC76F5-37F9-1250-91D7-5E6BCCDB9BD0}"/>
                </a:ext>
              </a:extLst>
            </p:cNvPr>
            <p:cNvGrpSpPr/>
            <p:nvPr/>
          </p:nvGrpSpPr>
          <p:grpSpPr>
            <a:xfrm>
              <a:off x="6855896" y="4153301"/>
              <a:ext cx="4110989" cy="2325702"/>
              <a:chOff x="6905771" y="3871260"/>
              <a:chExt cx="4110989" cy="2325702"/>
            </a:xfrm>
          </p:grpSpPr>
          <p:grpSp>
            <p:nvGrpSpPr>
              <p:cNvPr id="28" name="群組 27">
                <a:extLst>
                  <a:ext uri="{FF2B5EF4-FFF2-40B4-BE49-F238E27FC236}">
                    <a16:creationId xmlns:a16="http://schemas.microsoft.com/office/drawing/2014/main" id="{7B0468EF-B4D7-AE42-65F2-FC9F9AB3FBB8}"/>
                  </a:ext>
                </a:extLst>
              </p:cNvPr>
              <p:cNvGrpSpPr/>
              <p:nvPr/>
            </p:nvGrpSpPr>
            <p:grpSpPr>
              <a:xfrm rot="1951310">
                <a:off x="7527514" y="3871260"/>
                <a:ext cx="2458378" cy="2045087"/>
                <a:chOff x="7403540" y="4110296"/>
                <a:chExt cx="2458378" cy="2045087"/>
              </a:xfrm>
            </p:grpSpPr>
            <p:sp>
              <p:nvSpPr>
                <p:cNvPr id="18" name="右彎箭號 17">
                  <a:extLst>
                    <a:ext uri="{FF2B5EF4-FFF2-40B4-BE49-F238E27FC236}">
                      <a16:creationId xmlns:a16="http://schemas.microsoft.com/office/drawing/2014/main" id="{091573D3-0CD2-6FC1-980E-E9D8E107134E}"/>
                    </a:ext>
                  </a:extLst>
                </p:cNvPr>
                <p:cNvSpPr/>
                <p:nvPr/>
              </p:nvSpPr>
              <p:spPr>
                <a:xfrm>
                  <a:off x="7851263" y="4305078"/>
                  <a:ext cx="2010655" cy="1850305"/>
                </a:xfrm>
                <a:prstGeom prst="bentArrow">
                  <a:avLst>
                    <a:gd name="adj1" fmla="val 4536"/>
                    <a:gd name="adj2" fmla="val 4727"/>
                    <a:gd name="adj3" fmla="val 7326"/>
                    <a:gd name="adj4" fmla="val 70485"/>
                  </a:avLst>
                </a:prstGeom>
                <a:solidFill>
                  <a:srgbClr val="FF0000"/>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kumimoji="1" lang="zh-TW" altLang="en-US">
                    <a:solidFill>
                      <a:schemeClr val="tx1"/>
                    </a:solidFill>
                  </a:endParaRPr>
                </a:p>
              </p:txBody>
            </p:sp>
            <p:cxnSp>
              <p:nvCxnSpPr>
                <p:cNvPr id="21" name="直線接點 20">
                  <a:extLst>
                    <a:ext uri="{FF2B5EF4-FFF2-40B4-BE49-F238E27FC236}">
                      <a16:creationId xmlns:a16="http://schemas.microsoft.com/office/drawing/2014/main" id="{5743A526-C3C5-1951-A90A-36046BC510A9}"/>
                    </a:ext>
                  </a:extLst>
                </p:cNvPr>
                <p:cNvCxnSpPr>
                  <a:cxnSpLocks/>
                  <a:endCxn id="18" idx="2"/>
                </p:cNvCxnSpPr>
                <p:nvPr/>
              </p:nvCxnSpPr>
              <p:spPr>
                <a:xfrm flipH="1">
                  <a:off x="7893228" y="4721902"/>
                  <a:ext cx="1975" cy="1433481"/>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sp>
              <p:nvSpPr>
                <p:cNvPr id="23" name="橢圓 22">
                  <a:extLst>
                    <a:ext uri="{FF2B5EF4-FFF2-40B4-BE49-F238E27FC236}">
                      <a16:creationId xmlns:a16="http://schemas.microsoft.com/office/drawing/2014/main" id="{243971C9-100E-9C1F-2913-55385E6DFD92}"/>
                    </a:ext>
                  </a:extLst>
                </p:cNvPr>
                <p:cNvSpPr/>
                <p:nvPr/>
              </p:nvSpPr>
              <p:spPr>
                <a:xfrm>
                  <a:off x="7841203" y="4667902"/>
                  <a:ext cx="108000" cy="108000"/>
                </a:xfrm>
                <a:prstGeom prst="ellipse">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TW" altLang="en-US"/>
                </a:p>
              </p:txBody>
            </p:sp>
            <mc:AlternateContent xmlns:mc="http://schemas.openxmlformats.org/markup-compatibility/2006" xmlns:a14="http://schemas.microsoft.com/office/drawing/2010/main">
              <mc:Choice Requires="a14">
                <p:sp>
                  <p:nvSpPr>
                    <p:cNvPr id="25" name="文字方塊 24">
                      <a:extLst>
                        <a:ext uri="{FF2B5EF4-FFF2-40B4-BE49-F238E27FC236}">
                          <a16:creationId xmlns:a16="http://schemas.microsoft.com/office/drawing/2014/main" id="{E76582B4-D98A-49DC-D7AB-A4ED1083A981}"/>
                        </a:ext>
                      </a:extLst>
                    </p:cNvPr>
                    <p:cNvSpPr txBox="1"/>
                    <p:nvPr/>
                  </p:nvSpPr>
                  <p:spPr>
                    <a:xfrm rot="19648690">
                      <a:off x="7403540" y="4110296"/>
                      <a:ext cx="1250662" cy="3231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kumimoji="1" lang="zh-TW" altLang="en-US" sz="1500" i="1" smtClean="0">
                                    <a:solidFill>
                                      <a:srgbClr val="0070C0"/>
                                    </a:solidFill>
                                    <a:latin typeface="Cambria Math" panose="02040503050406030204" pitchFamily="18" charset="0"/>
                                  </a:rPr>
                                </m:ctrlPr>
                              </m:sSubPr>
                              <m:e>
                                <m:r>
                                  <m:rPr>
                                    <m:sty m:val="p"/>
                                  </m:rPr>
                                  <a:rPr kumimoji="1" lang="en-US" altLang="zh-TW" sz="1500" b="0" i="1" smtClean="0">
                                    <a:solidFill>
                                      <a:srgbClr val="0070C0"/>
                                    </a:solidFill>
                                    <a:latin typeface="Cambria Math" panose="02040503050406030204" pitchFamily="18" charset="0"/>
                                  </a:rPr>
                                  <m:t>L</m:t>
                                </m:r>
                              </m:e>
                              <m:sub>
                                <m:r>
                                  <m:rPr>
                                    <m:sty m:val="p"/>
                                  </m:rPr>
                                  <a:rPr kumimoji="1" lang="en-US" altLang="zh-TW" sz="1500" b="0" i="1" smtClean="0">
                                    <a:solidFill>
                                      <a:srgbClr val="0070C0"/>
                                    </a:solidFill>
                                    <a:latin typeface="Cambria Math" panose="02040503050406030204" pitchFamily="18" charset="0"/>
                                  </a:rPr>
                                  <m:t>d</m:t>
                                </m:r>
                              </m:sub>
                            </m:sSub>
                            <m:r>
                              <a:rPr kumimoji="1" lang="en-US" altLang="zh-TW" sz="1500" b="0" i="1" smtClean="0">
                                <a:solidFill>
                                  <a:srgbClr val="0070C0"/>
                                </a:solidFill>
                                <a:latin typeface="Cambria Math" panose="02040503050406030204" pitchFamily="18" charset="0"/>
                              </a:rPr>
                              <m:t>=(</m:t>
                            </m:r>
                            <m:sSub>
                              <m:sSubPr>
                                <m:ctrlPr>
                                  <a:rPr kumimoji="1" lang="en-US" altLang="zh-TW" sz="1500" b="0" i="1" smtClean="0">
                                    <a:solidFill>
                                      <a:srgbClr val="0070C0"/>
                                    </a:solidFill>
                                    <a:latin typeface="Cambria Math" panose="02040503050406030204" pitchFamily="18" charset="0"/>
                                  </a:rPr>
                                </m:ctrlPr>
                              </m:sSubPr>
                              <m:e>
                                <m:r>
                                  <m:rPr>
                                    <m:sty m:val="p"/>
                                  </m:rPr>
                                  <a:rPr kumimoji="1" lang="en-US" altLang="zh-TW" sz="1500" b="0" i="1" smtClean="0">
                                    <a:solidFill>
                                      <a:srgbClr val="0070C0"/>
                                    </a:solidFill>
                                    <a:latin typeface="Cambria Math" panose="02040503050406030204" pitchFamily="18" charset="0"/>
                                  </a:rPr>
                                  <m:t>x</m:t>
                                </m:r>
                              </m:e>
                              <m:sub>
                                <m:r>
                                  <m:rPr>
                                    <m:sty m:val="p"/>
                                  </m:rPr>
                                  <a:rPr kumimoji="1" lang="en-US" altLang="zh-TW" sz="1500" b="0" i="1" smtClean="0">
                                    <a:solidFill>
                                      <a:srgbClr val="0070C0"/>
                                    </a:solidFill>
                                    <a:latin typeface="Cambria Math" panose="02040503050406030204" pitchFamily="18" charset="0"/>
                                  </a:rPr>
                                  <m:t>r</m:t>
                                </m:r>
                              </m:sub>
                            </m:sSub>
                            <m:r>
                              <a:rPr kumimoji="1" lang="en-US" altLang="zh-TW" sz="1500" b="0" i="1" smtClean="0">
                                <a:solidFill>
                                  <a:srgbClr val="0070C0"/>
                                </a:solidFill>
                                <a:latin typeface="Cambria Math" panose="02040503050406030204" pitchFamily="18" charset="0"/>
                              </a:rPr>
                              <m:t>,</m:t>
                            </m:r>
                            <m:sSub>
                              <m:sSubPr>
                                <m:ctrlPr>
                                  <a:rPr kumimoji="1" lang="en-US" altLang="zh-TW" sz="1500" b="0" i="1" smtClean="0">
                                    <a:solidFill>
                                      <a:srgbClr val="0070C0"/>
                                    </a:solidFill>
                                    <a:latin typeface="Cambria Math" panose="02040503050406030204" pitchFamily="18" charset="0"/>
                                  </a:rPr>
                                </m:ctrlPr>
                              </m:sSubPr>
                              <m:e>
                                <m:r>
                                  <m:rPr>
                                    <m:sty m:val="p"/>
                                  </m:rPr>
                                  <a:rPr kumimoji="1" lang="en-US" altLang="zh-TW" sz="1500" b="0" i="1" smtClean="0">
                                    <a:solidFill>
                                      <a:srgbClr val="0070C0"/>
                                    </a:solidFill>
                                    <a:latin typeface="Cambria Math" panose="02040503050406030204" pitchFamily="18" charset="0"/>
                                  </a:rPr>
                                  <m:t>y</m:t>
                                </m:r>
                              </m:e>
                              <m:sub>
                                <m:r>
                                  <m:rPr>
                                    <m:sty m:val="p"/>
                                  </m:rPr>
                                  <a:rPr kumimoji="1" lang="en-US" altLang="zh-TW" sz="1500" b="0" i="1" smtClean="0">
                                    <a:solidFill>
                                      <a:srgbClr val="0070C0"/>
                                    </a:solidFill>
                                    <a:latin typeface="Cambria Math" panose="02040503050406030204" pitchFamily="18" charset="0"/>
                                  </a:rPr>
                                  <m:t>r</m:t>
                                </m:r>
                              </m:sub>
                            </m:sSub>
                            <m:r>
                              <a:rPr kumimoji="1" lang="en-US" altLang="zh-TW" sz="1500" b="0" i="1" smtClean="0">
                                <a:solidFill>
                                  <a:srgbClr val="0070C0"/>
                                </a:solidFill>
                                <a:latin typeface="Cambria Math" panose="02040503050406030204" pitchFamily="18" charset="0"/>
                              </a:rPr>
                              <m:t>)</m:t>
                            </m:r>
                          </m:oMath>
                        </m:oMathPara>
                      </a14:m>
                      <a:endParaRPr kumimoji="1" lang="zh-TW" altLang="en-US" sz="1500" dirty="0">
                        <a:solidFill>
                          <a:srgbClr val="0070C0"/>
                        </a:solidFill>
                      </a:endParaRPr>
                    </a:p>
                  </p:txBody>
                </p:sp>
              </mc:Choice>
              <mc:Fallback xmlns="">
                <p:sp>
                  <p:nvSpPr>
                    <p:cNvPr id="25" name="文字方塊 24">
                      <a:extLst>
                        <a:ext uri="{FF2B5EF4-FFF2-40B4-BE49-F238E27FC236}">
                          <a16:creationId xmlns:a16="http://schemas.microsoft.com/office/drawing/2014/main" id="{E76582B4-D98A-49DC-D7AB-A4ED1083A981}"/>
                        </a:ext>
                      </a:extLst>
                    </p:cNvPr>
                    <p:cNvSpPr txBox="1">
                      <a:spLocks noRot="1" noChangeAspect="1" noMove="1" noResize="1" noEditPoints="1" noAdjustHandles="1" noChangeArrowheads="1" noChangeShapeType="1" noTextEdit="1"/>
                    </p:cNvSpPr>
                    <p:nvPr/>
                  </p:nvSpPr>
                  <p:spPr>
                    <a:xfrm rot="19648690">
                      <a:off x="7403540" y="4110296"/>
                      <a:ext cx="1250662" cy="323165"/>
                    </a:xfrm>
                    <a:prstGeom prst="rect">
                      <a:avLst/>
                    </a:prstGeom>
                    <a:blipFill>
                      <a:blip r:embed="rId8"/>
                      <a:stretch>
                        <a:fillRect b="-7692"/>
                      </a:stretch>
                    </a:blipFill>
                  </p:spPr>
                  <p:txBody>
                    <a:bodyPr/>
                    <a:lstStyle/>
                    <a:p>
                      <a:r>
                        <a:rPr lang="zh-TW" altLang="en-US">
                          <a:noFill/>
                        </a:rPr>
                        <a:t> </a:t>
                      </a:r>
                    </a:p>
                  </p:txBody>
                </p:sp>
              </mc:Fallback>
            </mc:AlternateContent>
          </p:grpSp>
          <p:pic>
            <p:nvPicPr>
              <p:cNvPr id="27" name="圖片 26">
                <a:extLst>
                  <a:ext uri="{FF2B5EF4-FFF2-40B4-BE49-F238E27FC236}">
                    <a16:creationId xmlns:a16="http://schemas.microsoft.com/office/drawing/2014/main" id="{7315F5C3-362F-B2CB-575C-B171C86EA581}"/>
                  </a:ext>
                </a:extLst>
              </p:cNvPr>
              <p:cNvPicPr>
                <a:picLocks noChangeAspect="1"/>
              </p:cNvPicPr>
              <p:nvPr/>
            </p:nvPicPr>
            <p:blipFill>
              <a:blip r:embed="rId9"/>
              <a:stretch>
                <a:fillRect/>
              </a:stretch>
            </p:blipFill>
            <p:spPr>
              <a:xfrm rot="12751310">
                <a:off x="6905771" y="5296962"/>
                <a:ext cx="900000" cy="900000"/>
              </a:xfrm>
              <a:prstGeom prst="rect">
                <a:avLst/>
              </a:prstGeom>
            </p:spPr>
          </p:pic>
          <p:pic>
            <p:nvPicPr>
              <p:cNvPr id="29" name="圖片 28">
                <a:extLst>
                  <a:ext uri="{FF2B5EF4-FFF2-40B4-BE49-F238E27FC236}">
                    <a16:creationId xmlns:a16="http://schemas.microsoft.com/office/drawing/2014/main" id="{B15E2FD8-D076-7FA0-8B6B-421EBDC742E8}"/>
                  </a:ext>
                </a:extLst>
              </p:cNvPr>
              <p:cNvPicPr>
                <a:picLocks noChangeAspect="1"/>
              </p:cNvPicPr>
              <p:nvPr/>
            </p:nvPicPr>
            <p:blipFill>
              <a:blip r:embed="rId9"/>
              <a:stretch>
                <a:fillRect/>
              </a:stretch>
            </p:blipFill>
            <p:spPr>
              <a:xfrm rot="18151310">
                <a:off x="10116760" y="4747052"/>
                <a:ext cx="900000" cy="900000"/>
              </a:xfrm>
              <a:prstGeom prst="rect">
                <a:avLst/>
              </a:prstGeom>
            </p:spPr>
          </p:pic>
          <p:cxnSp>
            <p:nvCxnSpPr>
              <p:cNvPr id="43" name="直線箭頭接點 42">
                <a:extLst>
                  <a:ext uri="{FF2B5EF4-FFF2-40B4-BE49-F238E27FC236}">
                    <a16:creationId xmlns:a16="http://schemas.microsoft.com/office/drawing/2014/main" id="{CA1F9144-BD71-0595-C935-A2EAB8B290F7}"/>
                  </a:ext>
                </a:extLst>
              </p:cNvPr>
              <p:cNvCxnSpPr>
                <a:stCxn id="27" idx="2"/>
              </p:cNvCxnSpPr>
              <p:nvPr/>
            </p:nvCxnSpPr>
            <p:spPr>
              <a:xfrm flipV="1">
                <a:off x="7597700" y="4027382"/>
                <a:ext cx="511" cy="1340146"/>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44" name="直線箭頭接點 43">
                <a:extLst>
                  <a:ext uri="{FF2B5EF4-FFF2-40B4-BE49-F238E27FC236}">
                    <a16:creationId xmlns:a16="http://schemas.microsoft.com/office/drawing/2014/main" id="{3E7FD3DE-D512-9C56-F9A0-B82BEEF5DDEF}"/>
                  </a:ext>
                </a:extLst>
              </p:cNvPr>
              <p:cNvCxnSpPr>
                <a:cxnSpLocks/>
                <a:stCxn id="27" idx="2"/>
              </p:cNvCxnSpPr>
              <p:nvPr/>
            </p:nvCxnSpPr>
            <p:spPr>
              <a:xfrm flipV="1">
                <a:off x="7597700" y="5359490"/>
                <a:ext cx="1442605" cy="8038"/>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59" name="文字方塊 58">
                  <a:extLst>
                    <a:ext uri="{FF2B5EF4-FFF2-40B4-BE49-F238E27FC236}">
                      <a16:creationId xmlns:a16="http://schemas.microsoft.com/office/drawing/2014/main" id="{7D6649C1-F88E-B4B2-6725-07C9AD5E96E7}"/>
                    </a:ext>
                  </a:extLst>
                </p:cNvPr>
                <p:cNvSpPr txBox="1"/>
                <p:nvPr/>
              </p:nvSpPr>
              <p:spPr>
                <a:xfrm>
                  <a:off x="8790768" y="5304171"/>
                  <a:ext cx="293670" cy="27699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kumimoji="1" lang="en-US" altLang="zh-TW" sz="1200" b="0" i="1" smtClean="0">
                            <a:solidFill>
                              <a:srgbClr val="0070C0"/>
                            </a:solidFill>
                            <a:latin typeface="Cambria Math" panose="02040503050406030204" pitchFamily="18" charset="0"/>
                          </a:rPr>
                          <m:t>x</m:t>
                        </m:r>
                      </m:oMath>
                    </m:oMathPara>
                  </a14:m>
                  <a:endParaRPr kumimoji="1" lang="zh-TW" altLang="en-US" sz="1200" dirty="0">
                    <a:solidFill>
                      <a:srgbClr val="0070C0"/>
                    </a:solidFill>
                  </a:endParaRPr>
                </a:p>
              </p:txBody>
            </p:sp>
          </mc:Choice>
          <mc:Fallback xmlns="">
            <p:sp>
              <p:nvSpPr>
                <p:cNvPr id="59" name="文字方塊 58">
                  <a:extLst>
                    <a:ext uri="{FF2B5EF4-FFF2-40B4-BE49-F238E27FC236}">
                      <a16:creationId xmlns:a16="http://schemas.microsoft.com/office/drawing/2014/main" id="{7D6649C1-F88E-B4B2-6725-07C9AD5E96E7}"/>
                    </a:ext>
                  </a:extLst>
                </p:cNvPr>
                <p:cNvSpPr txBox="1">
                  <a:spLocks noRot="1" noChangeAspect="1" noMove="1" noResize="1" noEditPoints="1" noAdjustHandles="1" noChangeArrowheads="1" noChangeShapeType="1" noTextEdit="1"/>
                </p:cNvSpPr>
                <p:nvPr/>
              </p:nvSpPr>
              <p:spPr>
                <a:xfrm>
                  <a:off x="8790768" y="5304171"/>
                  <a:ext cx="293670" cy="276999"/>
                </a:xfrm>
                <a:prstGeom prst="rect">
                  <a:avLst/>
                </a:prstGeom>
                <a:blipFill>
                  <a:blip r:embed="rId10"/>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60" name="文字方塊 59">
                  <a:extLst>
                    <a:ext uri="{FF2B5EF4-FFF2-40B4-BE49-F238E27FC236}">
                      <a16:creationId xmlns:a16="http://schemas.microsoft.com/office/drawing/2014/main" id="{69FB4296-DF90-EF95-8A55-1CE07EB3C6A0}"/>
                    </a:ext>
                  </a:extLst>
                </p:cNvPr>
                <p:cNvSpPr txBox="1"/>
                <p:nvPr/>
              </p:nvSpPr>
              <p:spPr>
                <a:xfrm>
                  <a:off x="7261719" y="4170042"/>
                  <a:ext cx="296876" cy="27699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kumimoji="1" lang="en-US" altLang="zh-TW" sz="1200" b="0" i="1" smtClean="0">
                            <a:solidFill>
                              <a:srgbClr val="0070C0"/>
                            </a:solidFill>
                            <a:latin typeface="Cambria Math" panose="02040503050406030204" pitchFamily="18" charset="0"/>
                          </a:rPr>
                          <m:t>y</m:t>
                        </m:r>
                      </m:oMath>
                    </m:oMathPara>
                  </a14:m>
                  <a:endParaRPr kumimoji="1" lang="zh-TW" altLang="en-US" sz="1200" dirty="0">
                    <a:solidFill>
                      <a:srgbClr val="0070C0"/>
                    </a:solidFill>
                  </a:endParaRPr>
                </a:p>
              </p:txBody>
            </p:sp>
          </mc:Choice>
          <mc:Fallback xmlns="">
            <p:sp>
              <p:nvSpPr>
                <p:cNvPr id="60" name="文字方塊 59">
                  <a:extLst>
                    <a:ext uri="{FF2B5EF4-FFF2-40B4-BE49-F238E27FC236}">
                      <a16:creationId xmlns:a16="http://schemas.microsoft.com/office/drawing/2014/main" id="{69FB4296-DF90-EF95-8A55-1CE07EB3C6A0}"/>
                    </a:ext>
                  </a:extLst>
                </p:cNvPr>
                <p:cNvSpPr txBox="1">
                  <a:spLocks noRot="1" noChangeAspect="1" noMove="1" noResize="1" noEditPoints="1" noAdjustHandles="1" noChangeArrowheads="1" noChangeShapeType="1" noTextEdit="1"/>
                </p:cNvSpPr>
                <p:nvPr/>
              </p:nvSpPr>
              <p:spPr>
                <a:xfrm>
                  <a:off x="7261719" y="4170042"/>
                  <a:ext cx="296876" cy="276999"/>
                </a:xfrm>
                <a:prstGeom prst="rect">
                  <a:avLst/>
                </a:prstGeom>
                <a:blipFill>
                  <a:blip r:embed="rId11"/>
                  <a:stretch>
                    <a:fillRect/>
                  </a:stretch>
                </a:blipFill>
              </p:spPr>
              <p:txBody>
                <a:bodyPr/>
                <a:lstStyle/>
                <a:p>
                  <a:r>
                    <a:rPr lang="zh-TW" altLang="en-US">
                      <a:noFill/>
                    </a:rPr>
                    <a:t> </a:t>
                  </a:r>
                </a:p>
              </p:txBody>
            </p:sp>
          </mc:Fallback>
        </mc:AlternateContent>
      </p:grpSp>
      <p:grpSp>
        <p:nvGrpSpPr>
          <p:cNvPr id="11" name="群組 10">
            <a:extLst>
              <a:ext uri="{FF2B5EF4-FFF2-40B4-BE49-F238E27FC236}">
                <a16:creationId xmlns:a16="http://schemas.microsoft.com/office/drawing/2014/main" id="{8ACA4D55-BE74-1EAC-8A60-AF8CF17D40A8}"/>
              </a:ext>
            </a:extLst>
          </p:cNvPr>
          <p:cNvGrpSpPr/>
          <p:nvPr/>
        </p:nvGrpSpPr>
        <p:grpSpPr>
          <a:xfrm>
            <a:off x="3201451" y="5677196"/>
            <a:ext cx="2586245" cy="553998"/>
            <a:chOff x="3240754" y="5476729"/>
            <a:chExt cx="2586245" cy="553998"/>
          </a:xfrm>
        </p:grpSpPr>
        <p:pic>
          <p:nvPicPr>
            <p:cNvPr id="9" name="圖形 8" descr="驚嘆號 以實心填滿">
              <a:extLst>
                <a:ext uri="{FF2B5EF4-FFF2-40B4-BE49-F238E27FC236}">
                  <a16:creationId xmlns:a16="http://schemas.microsoft.com/office/drawing/2014/main" id="{D5A61A5D-33A0-A6D4-9B47-E6C00E7338ED}"/>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3240754" y="5573728"/>
              <a:ext cx="360000" cy="360000"/>
            </a:xfrm>
            <a:prstGeom prst="rect">
              <a:avLst/>
            </a:prstGeom>
          </p:spPr>
        </p:pic>
        <mc:AlternateContent xmlns:mc="http://schemas.openxmlformats.org/markup-compatibility/2006">
          <mc:Choice xmlns:a14="http://schemas.microsoft.com/office/drawing/2010/main" Requires="a14">
            <p:sp>
              <p:nvSpPr>
                <p:cNvPr id="10" name="文字方塊 9">
                  <a:extLst>
                    <a:ext uri="{FF2B5EF4-FFF2-40B4-BE49-F238E27FC236}">
                      <a16:creationId xmlns:a16="http://schemas.microsoft.com/office/drawing/2014/main" id="{09A467F9-57FD-CB45-A806-142B85BAAE43}"/>
                    </a:ext>
                  </a:extLst>
                </p:cNvPr>
                <p:cNvSpPr txBox="1"/>
                <p:nvPr/>
              </p:nvSpPr>
              <p:spPr>
                <a:xfrm>
                  <a:off x="3478134" y="5476729"/>
                  <a:ext cx="2348865" cy="553998"/>
                </a:xfrm>
                <a:prstGeom prst="rect">
                  <a:avLst/>
                </a:prstGeom>
                <a:noFill/>
              </p:spPr>
              <p:txBody>
                <a:bodyPr wrap="square" rtlCol="0">
                  <a:spAutoFit/>
                </a:bodyPr>
                <a:lstStyle/>
                <a:p>
                  <a:pPr algn="ctr"/>
                  <a:r>
                    <a:rPr kumimoji="1" lang="en-US" altLang="zh-TW" sz="1500" dirty="0">
                      <a:solidFill>
                        <a:srgbClr val="FF0000"/>
                      </a:solidFill>
                    </a:rPr>
                    <a:t>Lowers </a:t>
                  </a:r>
                  <a14:m>
                    <m:oMath xmlns:m="http://schemas.openxmlformats.org/officeDocument/2006/math">
                      <m:sSub>
                        <m:sSubPr>
                          <m:ctrlPr>
                            <a:rPr kumimoji="1" lang="zh-TW" altLang="en-US" sz="1500" i="1">
                              <a:solidFill>
                                <a:srgbClr val="FF0000"/>
                              </a:solidFill>
                              <a:latin typeface="Cambria Math" panose="02040503050406030204" pitchFamily="18" charset="0"/>
                            </a:rPr>
                          </m:ctrlPr>
                        </m:sSubPr>
                        <m:e>
                          <m:r>
                            <m:rPr>
                              <m:sty m:val="p"/>
                            </m:rPr>
                            <a:rPr kumimoji="1" lang="en-US" altLang="zh-TW" sz="1500" i="1">
                              <a:solidFill>
                                <a:srgbClr val="FF0000"/>
                              </a:solidFill>
                              <a:latin typeface="Cambria Math" panose="02040503050406030204" pitchFamily="18" charset="0"/>
                            </a:rPr>
                            <m:t>v</m:t>
                          </m:r>
                        </m:e>
                        <m:sub>
                          <m:r>
                            <m:rPr>
                              <m:sty m:val="p"/>
                            </m:rPr>
                            <a:rPr kumimoji="1" lang="en-US" altLang="zh-TW" sz="1500" i="1">
                              <a:solidFill>
                                <a:srgbClr val="FF0000"/>
                              </a:solidFill>
                              <a:latin typeface="Cambria Math" panose="02040503050406030204" pitchFamily="18" charset="0"/>
                            </a:rPr>
                            <m:t>des</m:t>
                          </m:r>
                        </m:sub>
                      </m:sSub>
                    </m:oMath>
                  </a14:m>
                  <a:r>
                    <a:rPr kumimoji="1" lang="en-US" altLang="zh-TW" sz="1500" dirty="0"/>
                    <a:t> </a:t>
                  </a:r>
                  <a:r>
                    <a:rPr kumimoji="1" lang="en-US" altLang="zh-TW" sz="1500" dirty="0">
                      <a:solidFill>
                        <a:srgbClr val="FF0000"/>
                      </a:solidFill>
                    </a:rPr>
                    <a:t>when there is a close object ahead</a:t>
                  </a:r>
                  <a:endParaRPr kumimoji="1" lang="zh-TW" altLang="en-US" sz="1500" dirty="0">
                    <a:solidFill>
                      <a:srgbClr val="FF0000"/>
                    </a:solidFill>
                  </a:endParaRPr>
                </a:p>
              </p:txBody>
            </p:sp>
          </mc:Choice>
          <mc:Fallback>
            <p:sp>
              <p:nvSpPr>
                <p:cNvPr id="10" name="文字方塊 9">
                  <a:extLst>
                    <a:ext uri="{FF2B5EF4-FFF2-40B4-BE49-F238E27FC236}">
                      <a16:creationId xmlns:a16="http://schemas.microsoft.com/office/drawing/2014/main" id="{09A467F9-57FD-CB45-A806-142B85BAAE43}"/>
                    </a:ext>
                  </a:extLst>
                </p:cNvPr>
                <p:cNvSpPr txBox="1">
                  <a:spLocks noRot="1" noChangeAspect="1" noMove="1" noResize="1" noEditPoints="1" noAdjustHandles="1" noChangeArrowheads="1" noChangeShapeType="1" noTextEdit="1"/>
                </p:cNvSpPr>
                <p:nvPr/>
              </p:nvSpPr>
              <p:spPr>
                <a:xfrm>
                  <a:off x="3478134" y="5476729"/>
                  <a:ext cx="2348865" cy="553998"/>
                </a:xfrm>
                <a:prstGeom prst="rect">
                  <a:avLst/>
                </a:prstGeom>
                <a:blipFill>
                  <a:blip r:embed="rId13"/>
                  <a:stretch>
                    <a:fillRect l="-538" t="-2222" r="-2688" b="-11111"/>
                  </a:stretch>
                </a:blipFill>
              </p:spPr>
              <p:txBody>
                <a:bodyPr/>
                <a:lstStyle/>
                <a:p>
                  <a:r>
                    <a:rPr lang="zh-TW" altLang="en-US">
                      <a:noFill/>
                    </a:rPr>
                    <a:t> </a:t>
                  </a:r>
                </a:p>
              </p:txBody>
            </p:sp>
          </mc:Fallback>
        </mc:AlternateContent>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11277295" cy="777240"/>
          </a:xfrm>
          <a:prstGeom prst="rect">
            <a:avLst/>
          </a:prstGeom>
          <a:noFill/>
        </p:spPr>
        <p:txBody>
          <a:bodyPr wrap="square">
            <a:spAutoFit/>
          </a:bodyPr>
          <a:lstStyle/>
          <a:p>
            <a:pPr>
              <a:defRPr sz="3400" b="1">
                <a:solidFill>
                  <a:srgbClr val="1B2A4A"/>
                </a:solidFill>
              </a:defRPr>
            </a:pPr>
            <a:r>
              <a:t>Results</a:t>
            </a:r>
          </a:p>
        </p:txBody>
      </p:sp>
      <p:sp>
        <p:nvSpPr>
          <p:cNvPr id="3" name="Rectangle 2"/>
          <p:cNvSpPr/>
          <p:nvPr/>
        </p:nvSpPr>
        <p:spPr>
          <a:xfrm>
            <a:off x="457200" y="1005840"/>
            <a:ext cx="11277295" cy="31750"/>
          </a:xfrm>
          <a:prstGeom prst="rect">
            <a:avLst/>
          </a:prstGeom>
          <a:solidFill>
            <a:srgbClr val="2E6F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143000"/>
            <a:ext cx="6263640" cy="5114221"/>
          </a:xfrm>
          <a:prstGeom prst="rect">
            <a:avLst/>
          </a:prstGeom>
          <a:noFill/>
        </p:spPr>
        <p:txBody>
          <a:bodyPr wrap="square">
            <a:spAutoFit/>
          </a:bodyPr>
          <a:lstStyle/>
          <a:p>
            <a:pPr>
              <a:spcAft>
                <a:spcPts val="800"/>
              </a:spcAft>
              <a:defRPr sz="1900">
                <a:solidFill>
                  <a:srgbClr val="222222"/>
                </a:solidFill>
              </a:defRPr>
            </a:pPr>
            <a:r>
              <a:rPr dirty="0"/>
              <a:t>•  </a:t>
            </a:r>
            <a:r>
              <a:rPr sz="2300" dirty="0"/>
              <a:t>Full benchmark run completed successfully</a:t>
            </a:r>
            <a:endParaRPr lang="en-US" sz="2300" dirty="0"/>
          </a:p>
          <a:p>
            <a:pPr>
              <a:spcAft>
                <a:spcPts val="400"/>
              </a:spcAft>
              <a:defRPr sz="1600">
                <a:solidFill>
                  <a:srgbClr val="555555"/>
                </a:solidFill>
              </a:defRPr>
            </a:pPr>
            <a:r>
              <a:rPr lang="en-US" altLang="zh-TW" sz="2200" dirty="0"/>
              <a:t>‒  272 seconds, zero collisions and zero stalls</a:t>
            </a:r>
          </a:p>
          <a:p>
            <a:pPr>
              <a:spcAft>
                <a:spcPts val="400"/>
              </a:spcAft>
              <a:defRPr sz="1600">
                <a:solidFill>
                  <a:srgbClr val="555555"/>
                </a:solidFill>
              </a:defRPr>
            </a:pPr>
            <a:r>
              <a:rPr lang="en-US" altLang="zh-TW" sz="2200" dirty="0"/>
              <a:t>‒  Fastest: 2 longest clear straights (peak 7.5 m/s)</a:t>
            </a:r>
          </a:p>
          <a:p>
            <a:pPr>
              <a:spcAft>
                <a:spcPts val="400"/>
              </a:spcAft>
              <a:defRPr sz="1600">
                <a:solidFill>
                  <a:srgbClr val="555555"/>
                </a:solidFill>
              </a:defRPr>
            </a:pPr>
            <a:r>
              <a:rPr lang="en-US" altLang="zh-TW" sz="2200" dirty="0"/>
              <a:t>‒  Slowest: detour spot, stops @ Traffic Light 2&amp;3, vehicle merging and emergency brake</a:t>
            </a:r>
            <a:endParaRPr lang="en-US" sz="2200" b="1" dirty="0">
              <a:solidFill>
                <a:srgbClr val="FF0000"/>
              </a:solidFill>
            </a:endParaRPr>
          </a:p>
          <a:p>
            <a:pPr>
              <a:spcAft>
                <a:spcPts val="800"/>
              </a:spcAft>
              <a:defRPr sz="1900">
                <a:solidFill>
                  <a:srgbClr val="222222"/>
                </a:solidFill>
              </a:defRPr>
            </a:pPr>
            <a:r>
              <a:rPr lang="en-US" altLang="zh-TW" sz="2400" dirty="0"/>
              <a:t>•  </a:t>
            </a:r>
            <a:r>
              <a:rPr lang="en-US" altLang="zh-TW" sz="2300" i="1" dirty="0"/>
              <a:t>Limitation 1</a:t>
            </a:r>
            <a:r>
              <a:rPr lang="en-US" altLang="zh-TW" sz="2300" dirty="0"/>
              <a:t>: F</a:t>
            </a:r>
            <a:r>
              <a:rPr lang="zh-TW" altLang="zh-TW" sz="2300" dirty="0"/>
              <a:t>ull trajectory update on every detour replan</a:t>
            </a:r>
            <a:endParaRPr lang="en-US" altLang="zh-TW" sz="2200" dirty="0"/>
          </a:p>
          <a:p>
            <a:pPr>
              <a:spcAft>
                <a:spcPts val="400"/>
              </a:spcAft>
              <a:defRPr sz="1600">
                <a:solidFill>
                  <a:srgbClr val="555555"/>
                </a:solidFill>
              </a:defRPr>
            </a:pPr>
            <a:r>
              <a:rPr lang="en-US" altLang="zh-TW" sz="2200" dirty="0"/>
              <a:t>‒  P</a:t>
            </a:r>
            <a:r>
              <a:rPr lang="zh-TW" altLang="zh-TW" sz="2200" dirty="0"/>
              <a:t>erception &amp; control both fully rebuild their arc tables on every update, not just the changed window</a:t>
            </a:r>
            <a:endParaRPr lang="en-US" altLang="zh-TW" sz="2200" dirty="0"/>
          </a:p>
          <a:p>
            <a:pPr>
              <a:spcAft>
                <a:spcPts val="800"/>
              </a:spcAft>
              <a:defRPr sz="1900">
                <a:solidFill>
                  <a:srgbClr val="222222"/>
                </a:solidFill>
              </a:defRPr>
            </a:pPr>
            <a:r>
              <a:rPr lang="en-US" altLang="zh-TW" sz="2400" dirty="0"/>
              <a:t>•  </a:t>
            </a:r>
            <a:r>
              <a:rPr lang="zh-TW" altLang="zh-TW" sz="2300" i="1" dirty="0"/>
              <a:t>Limitation 2</a:t>
            </a:r>
            <a:r>
              <a:rPr lang="zh-TW" altLang="zh-TW" sz="2300" dirty="0"/>
              <a:t>: wide corridor is over-sensitive to irrelevant roadside objects</a:t>
            </a:r>
            <a:endParaRPr lang="en-US" altLang="zh-TW" sz="2300" dirty="0"/>
          </a:p>
          <a:p>
            <a:pPr>
              <a:spcAft>
                <a:spcPts val="400"/>
              </a:spcAft>
              <a:defRPr sz="1600">
                <a:solidFill>
                  <a:srgbClr val="555555"/>
                </a:solidFill>
              </a:defRPr>
            </a:pPr>
            <a:r>
              <a:rPr lang="en-US" altLang="zh-TW" sz="2200" dirty="0"/>
              <a:t>‒  C</a:t>
            </a:r>
            <a:r>
              <a:rPr lang="zh-TW" altLang="zh-TW" sz="2200" dirty="0"/>
              <a:t>an't distinguish real hazards from static roadside furniture</a:t>
            </a:r>
          </a:p>
        </p:txBody>
      </p:sp>
      <p:grpSp>
        <p:nvGrpSpPr>
          <p:cNvPr id="12" name="群組 11">
            <a:extLst>
              <a:ext uri="{FF2B5EF4-FFF2-40B4-BE49-F238E27FC236}">
                <a16:creationId xmlns:a16="http://schemas.microsoft.com/office/drawing/2014/main" id="{237BB950-F0AC-0C81-1BB2-69C2541F453C}"/>
              </a:ext>
            </a:extLst>
          </p:cNvPr>
          <p:cNvGrpSpPr/>
          <p:nvPr/>
        </p:nvGrpSpPr>
        <p:grpSpPr>
          <a:xfrm>
            <a:off x="6778488" y="4484101"/>
            <a:ext cx="5029200" cy="2027144"/>
            <a:chOff x="1066800" y="4556536"/>
            <a:chExt cx="5029200" cy="2027144"/>
          </a:xfrm>
        </p:grpSpPr>
        <p:pic>
          <p:nvPicPr>
            <p:cNvPr id="7" name="Picture 6" descr="speed_profile.png"/>
            <p:cNvPicPr>
              <a:picLocks noChangeAspect="1"/>
            </p:cNvPicPr>
            <p:nvPr/>
          </p:nvPicPr>
          <p:blipFill>
            <a:blip r:embed="rId3"/>
            <a:stretch>
              <a:fillRect/>
            </a:stretch>
          </p:blipFill>
          <p:spPr>
            <a:xfrm>
              <a:off x="1066800" y="4556536"/>
              <a:ext cx="5029200" cy="1788160"/>
            </a:xfrm>
            <a:prstGeom prst="rect">
              <a:avLst/>
            </a:prstGeom>
          </p:spPr>
        </p:pic>
        <p:sp>
          <p:nvSpPr>
            <p:cNvPr id="8" name="TextBox 7"/>
            <p:cNvSpPr txBox="1"/>
            <p:nvPr/>
          </p:nvSpPr>
          <p:spPr>
            <a:xfrm>
              <a:off x="1066800" y="6309360"/>
              <a:ext cx="5029200" cy="274320"/>
            </a:xfrm>
            <a:prstGeom prst="rect">
              <a:avLst/>
            </a:prstGeom>
            <a:noFill/>
          </p:spPr>
          <p:txBody>
            <a:bodyPr wrap="square">
              <a:spAutoFit/>
            </a:bodyPr>
            <a:lstStyle/>
            <a:p>
              <a:pPr algn="ctr">
                <a:defRPr sz="1300" i="1">
                  <a:solidFill>
                    <a:srgbClr val="555555"/>
                  </a:solidFill>
                </a:defRPr>
              </a:pPr>
              <a:r>
                <a:rPr dirty="0"/>
                <a:t>Speed vs. distance travelled</a:t>
              </a:r>
            </a:p>
          </p:txBody>
        </p:sp>
      </p:grpSp>
      <p:grpSp>
        <p:nvGrpSpPr>
          <p:cNvPr id="13" name="群組 12">
            <a:extLst>
              <a:ext uri="{FF2B5EF4-FFF2-40B4-BE49-F238E27FC236}">
                <a16:creationId xmlns:a16="http://schemas.microsoft.com/office/drawing/2014/main" id="{8D6A8B87-258A-AC46-686D-CAEE334CD010}"/>
              </a:ext>
            </a:extLst>
          </p:cNvPr>
          <p:cNvGrpSpPr/>
          <p:nvPr/>
        </p:nvGrpSpPr>
        <p:grpSpPr>
          <a:xfrm>
            <a:off x="7113921" y="1268873"/>
            <a:ext cx="4358335" cy="2690873"/>
            <a:chOff x="7215521" y="1489006"/>
            <a:chExt cx="4358335" cy="2690873"/>
          </a:xfrm>
        </p:grpSpPr>
        <p:grpSp>
          <p:nvGrpSpPr>
            <p:cNvPr id="9" name="群組 8">
              <a:extLst>
                <a:ext uri="{FF2B5EF4-FFF2-40B4-BE49-F238E27FC236}">
                  <a16:creationId xmlns:a16="http://schemas.microsoft.com/office/drawing/2014/main" id="{84C6F194-99DD-B285-1C97-EBBB80F4DAC0}"/>
                </a:ext>
              </a:extLst>
            </p:cNvPr>
            <p:cNvGrpSpPr/>
            <p:nvPr/>
          </p:nvGrpSpPr>
          <p:grpSpPr>
            <a:xfrm>
              <a:off x="7215521" y="1489006"/>
              <a:ext cx="4358335" cy="2690873"/>
              <a:chOff x="6720840" y="256055"/>
              <a:chExt cx="5029200" cy="4244377"/>
            </a:xfrm>
          </p:grpSpPr>
          <p:pic>
            <p:nvPicPr>
              <p:cNvPr id="5" name="Picture 4" descr="route_speed_map.png"/>
              <p:cNvPicPr>
                <a:picLocks noChangeAspect="1"/>
              </p:cNvPicPr>
              <p:nvPr/>
            </p:nvPicPr>
            <p:blipFill>
              <a:blip r:embed="rId4"/>
              <a:stretch>
                <a:fillRect/>
              </a:stretch>
            </p:blipFill>
            <p:spPr>
              <a:xfrm>
                <a:off x="6927722" y="256055"/>
                <a:ext cx="4615435" cy="3956087"/>
              </a:xfrm>
              <a:prstGeom prst="rect">
                <a:avLst/>
              </a:prstGeom>
            </p:spPr>
          </p:pic>
          <p:sp>
            <p:nvSpPr>
              <p:cNvPr id="6" name="TextBox 5"/>
              <p:cNvSpPr txBox="1"/>
              <p:nvPr/>
            </p:nvSpPr>
            <p:spPr>
              <a:xfrm>
                <a:off x="6720840" y="4226112"/>
                <a:ext cx="5029200" cy="274320"/>
              </a:xfrm>
              <a:prstGeom prst="rect">
                <a:avLst/>
              </a:prstGeom>
              <a:noFill/>
            </p:spPr>
            <p:txBody>
              <a:bodyPr wrap="square">
                <a:spAutoFit/>
              </a:bodyPr>
              <a:lstStyle/>
              <a:p>
                <a:pPr algn="ctr">
                  <a:defRPr sz="1300" i="1">
                    <a:solidFill>
                      <a:srgbClr val="555555"/>
                    </a:solidFill>
                  </a:defRPr>
                </a:pPr>
                <a:r>
                  <a:rPr dirty="0"/>
                  <a:t>Driven path colored by speed</a:t>
                </a:r>
              </a:p>
            </p:txBody>
          </p:sp>
        </p:grpSp>
        <p:sp>
          <p:nvSpPr>
            <p:cNvPr id="10" name="橢圓 9">
              <a:extLst>
                <a:ext uri="{FF2B5EF4-FFF2-40B4-BE49-F238E27FC236}">
                  <a16:creationId xmlns:a16="http://schemas.microsoft.com/office/drawing/2014/main" id="{FC459356-36E9-9D93-25D6-C54E988BBE34}"/>
                </a:ext>
              </a:extLst>
            </p:cNvPr>
            <p:cNvSpPr/>
            <p:nvPr/>
          </p:nvSpPr>
          <p:spPr>
            <a:xfrm>
              <a:off x="9917194" y="2411718"/>
              <a:ext cx="369948" cy="234088"/>
            </a:xfrm>
            <a:prstGeom prst="ellipse">
              <a:avLst/>
            </a:prstGeom>
            <a:noFill/>
            <a:ln w="127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TW" altLang="en-US"/>
            </a:p>
          </p:txBody>
        </p:sp>
        <p:sp>
          <p:nvSpPr>
            <p:cNvPr id="11" name="文字方塊 10">
              <a:extLst>
                <a:ext uri="{FF2B5EF4-FFF2-40B4-BE49-F238E27FC236}">
                  <a16:creationId xmlns:a16="http://schemas.microsoft.com/office/drawing/2014/main" id="{3367D12A-F6D8-61E4-F90B-C9361F520C70}"/>
                </a:ext>
              </a:extLst>
            </p:cNvPr>
            <p:cNvSpPr txBox="1"/>
            <p:nvPr/>
          </p:nvSpPr>
          <p:spPr>
            <a:xfrm>
              <a:off x="9682149" y="2042386"/>
              <a:ext cx="840038" cy="369332"/>
            </a:xfrm>
            <a:prstGeom prst="rect">
              <a:avLst/>
            </a:prstGeom>
            <a:noFill/>
          </p:spPr>
          <p:txBody>
            <a:bodyPr wrap="none" rtlCol="0">
              <a:spAutoFit/>
            </a:bodyPr>
            <a:lstStyle/>
            <a:p>
              <a:pPr algn="ctr"/>
              <a:r>
                <a:rPr kumimoji="1" lang="en-US" altLang="zh-TW" dirty="0">
                  <a:solidFill>
                    <a:srgbClr val="FF0000"/>
                  </a:solidFill>
                </a:rPr>
                <a:t>Detour</a:t>
              </a:r>
              <a:endParaRPr kumimoji="1" lang="zh-TW" altLang="en-US" dirty="0">
                <a:solidFill>
                  <a:srgbClr val="FF0000"/>
                </a:solidFill>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方塊 1">
            <a:extLst>
              <a:ext uri="{FF2B5EF4-FFF2-40B4-BE49-F238E27FC236}">
                <a16:creationId xmlns:a16="http://schemas.microsoft.com/office/drawing/2014/main" id="{44A6B5B5-9208-095B-C736-08BEE63C906A}"/>
              </a:ext>
            </a:extLst>
          </p:cNvPr>
          <p:cNvSpPr txBox="1"/>
          <p:nvPr/>
        </p:nvSpPr>
        <p:spPr>
          <a:xfrm>
            <a:off x="2734727" y="2998113"/>
            <a:ext cx="6722546" cy="861774"/>
          </a:xfrm>
          <a:prstGeom prst="rect">
            <a:avLst/>
          </a:prstGeom>
          <a:noFill/>
        </p:spPr>
        <p:txBody>
          <a:bodyPr wrap="none" rtlCol="0">
            <a:spAutoFit/>
          </a:bodyPr>
          <a:lstStyle/>
          <a:p>
            <a:pPr algn="ctr"/>
            <a:r>
              <a:rPr kumimoji="1" lang="en-US" altLang="zh-TW" sz="5000" dirty="0"/>
              <a:t>Thank you for attention!</a:t>
            </a:r>
            <a:endParaRPr kumimoji="1" lang="zh-TW" altLang="en-US" sz="5000" dirty="0"/>
          </a:p>
        </p:txBody>
      </p:sp>
    </p:spTree>
    <p:extLst>
      <p:ext uri="{BB962C8B-B14F-4D97-AF65-F5344CB8AC3E}">
        <p14:creationId xmlns:p14="http://schemas.microsoft.com/office/powerpoint/2010/main" val="381439123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1003</TotalTime>
  <Words>1361</Words>
  <Application>Microsoft Macintosh PowerPoint</Application>
  <PresentationFormat>寬螢幕</PresentationFormat>
  <Paragraphs>80</Paragraphs>
  <Slides>7</Slides>
  <Notes>6</Notes>
  <HiddenSlides>0</HiddenSlides>
  <MMClips>0</MMClips>
  <ScaleCrop>false</ScaleCrop>
  <HeadingPairs>
    <vt:vector size="6" baseType="variant">
      <vt:variant>
        <vt:lpstr>使用字型</vt:lpstr>
      </vt:variant>
      <vt:variant>
        <vt:i4>4</vt:i4>
      </vt:variant>
      <vt:variant>
        <vt:lpstr>佈景主題</vt:lpstr>
      </vt:variant>
      <vt:variant>
        <vt:i4>1</vt:i4>
      </vt:variant>
      <vt:variant>
        <vt:lpstr>投影片標題</vt:lpstr>
      </vt:variant>
      <vt:variant>
        <vt:i4>7</vt:i4>
      </vt:variant>
    </vt:vector>
  </HeadingPairs>
  <TitlesOfParts>
    <vt:vector size="12" baseType="lpstr">
      <vt:lpstr>Arial</vt:lpstr>
      <vt:lpstr>Calibri</vt:lpstr>
      <vt:lpstr>Cambria Math</vt:lpstr>
      <vt:lpstr>Wingdings</vt:lpstr>
      <vt:lpstr>Office Theme</vt:lpstr>
      <vt:lpstr>PowerPoint 簡報</vt:lpstr>
      <vt:lpstr>PowerPoint 簡報</vt:lpstr>
      <vt:lpstr>PowerPoint 簡報</vt:lpstr>
      <vt:lpstr>PowerPoint 簡報</vt:lpstr>
      <vt:lpstr>PowerPoint 簡報</vt:lpstr>
      <vt:lpstr>PowerPoint 簡報</vt:lpstr>
      <vt:lpstr>PowerPoint 簡報</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Microsoft Office User</cp:lastModifiedBy>
  <cp:revision>42</cp:revision>
  <dcterms:created xsi:type="dcterms:W3CDTF">2013-01-27T09:14:16Z</dcterms:created>
  <dcterms:modified xsi:type="dcterms:W3CDTF">2026-08-04T15:08:40Z</dcterms:modified>
  <cp:category/>
</cp:coreProperties>
</file>